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8"/>
  </p:notesMasterIdLst>
  <p:handoutMasterIdLst>
    <p:handoutMasterId r:id="rId19"/>
  </p:handoutMasterIdLst>
  <p:sldIdLst>
    <p:sldId id="338" r:id="rId5"/>
    <p:sldId id="327" r:id="rId6"/>
    <p:sldId id="315" r:id="rId7"/>
    <p:sldId id="329" r:id="rId8"/>
    <p:sldId id="302" r:id="rId9"/>
    <p:sldId id="345" r:id="rId10"/>
    <p:sldId id="339" r:id="rId11"/>
    <p:sldId id="340" r:id="rId12"/>
    <p:sldId id="341" r:id="rId13"/>
    <p:sldId id="344" r:id="rId14"/>
    <p:sldId id="342" r:id="rId15"/>
    <p:sldId id="343" r:id="rId16"/>
    <p:sldId id="30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10/7/2025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10/7/2025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C2BAA-6D84-0520-986D-D9998B254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E14699-44A6-EF7F-8DE1-0D49D98233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76735E-94B4-3F74-2D07-8F17A0B9A0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B6BA8-F59F-9911-A21C-A34E7BF473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57724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10/7/2025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10/7/2025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10/7/2025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hyperlink" Target="https://github.com/DesmondKarakara/VOIS_AICTE_Oct2025_DevdiproBhaduri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24941" y="3833286"/>
            <a:ext cx="5810200" cy="861497"/>
          </a:xfrm>
        </p:spPr>
        <p:txBody>
          <a:bodyPr>
            <a:noAutofit/>
          </a:bodyPr>
          <a:lstStyle/>
          <a:p>
            <a:pPr algn="r"/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Devdipro Bhaduri</a:t>
            </a:r>
          </a:p>
          <a:p>
            <a:pPr algn="r"/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INTERNSHIP_17546440516895be537820f </a:t>
            </a:r>
          </a:p>
          <a:p>
            <a:pPr algn="r"/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APPLY_175593885768a98029dbfc9</a:t>
            </a:r>
            <a:endParaRPr lang="en-IN" sz="2400" b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4942" y="2422277"/>
            <a:ext cx="6341680" cy="743448"/>
          </a:xfrm>
        </p:spPr>
        <p:txBody>
          <a:bodyPr>
            <a:noAutofit/>
          </a:bodyPr>
          <a:lstStyle/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AIRBNB HOTEL BOOKING ANALYSIS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87122">
            <a:off x="9097746" y="2361208"/>
            <a:ext cx="2760758" cy="3264409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1920" y="1254556"/>
            <a:ext cx="10390919" cy="505302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Problem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Hosts lack actionable insights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strategically price their properties, understand guest preferences, and implement best practices that consistently drive bookings and positive reviews, resulting in: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Suboptimal Pricing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16.3% of listings have unrealistic minimum night requirements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Performance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Rating variance of up to 1.5 points across neighborhood segments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Occupancy Gaps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35% difference between highest and lowest performing boroughs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Amenity Mismatch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Host investments not aligned with guest preferences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Challenges Identified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Pricing Inefficiency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Hosts cannot determine optimal price points balancing revenue and occupancy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Blindspots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Lack of understanding of monthly demand fluctuations and pricing opportunities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Quality-Rating Disconnect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High-priced listings not consistently delivering superior guest experiences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Neighborhood Underperformance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Significant performance gaps across geographic segments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Gaps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Host verification and instant booking features underutilized despite proven benefits</a:t>
            </a:r>
          </a:p>
          <a:p>
            <a:pPr marL="0" indent="0">
              <a:buNone/>
            </a:pP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C8011FFB-3F72-DFA2-B617-CF2EF50097E1}"/>
              </a:ext>
            </a:extLst>
          </p:cNvPr>
          <p:cNvSpPr txBox="1">
            <a:spLocks/>
          </p:cNvSpPr>
          <p:nvPr/>
        </p:nvSpPr>
        <p:spPr>
          <a:xfrm>
            <a:off x="675957" y="2012580"/>
            <a:ext cx="8666481" cy="38044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Pricing Engine</a:t>
            </a:r>
            <a:r>
              <a:rPr 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 Seasonally-adjusted pricing algorithms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Forecasting</a:t>
            </a:r>
            <a:r>
              <a:rPr 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 Peak period identification and capacity planning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Benchmarking</a:t>
            </a:r>
            <a:r>
              <a:rPr 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 Host segmentation and improvement tracking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Opportunity Mapping</a:t>
            </a:r>
            <a:r>
              <a:rPr 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 Market gap analysis and expansion prioritization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768" y="0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684371"/>
            <a:ext cx="12872721" cy="57353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🏠 Individual Hosts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(1-10 properties)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Pricing recommendations specific to their listings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vs competitor benchmarking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 roadmaps for higher ratings</a:t>
            </a:r>
          </a:p>
          <a:p>
            <a:pPr marL="0" indent="0">
              <a:buNone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🏢 Property Management Companies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(10+ properties)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Portfolio optimization across locations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expansion decisions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efficiency identification</a:t>
            </a:r>
          </a:p>
          <a:p>
            <a:pPr marL="0" indent="0">
              <a:buNone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💼 Airbnb Corporate Teams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intelligence for platform strategy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 education program development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prioritization insights</a:t>
            </a:r>
          </a:p>
          <a:p>
            <a:pPr marL="0" indent="0">
              <a:buNone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📈 Real Estate Investors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ROI projections and market viability</a:t>
            </a:r>
          </a:p>
          <a:p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Neighborhood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performance data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assessment and diversification strategies</a:t>
            </a:r>
          </a:p>
          <a:p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78000" y="888306"/>
            <a:ext cx="4790982" cy="50813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Processing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latinLnBrk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+ Pandas + NumPy</a:t>
            </a:r>
          </a:p>
          <a:p>
            <a:pPr latinLnBrk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Room-type specific outlier treatment</a:t>
            </a:r>
          </a:p>
          <a:p>
            <a:pPr latinLnBrk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Automated data validation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Machine Learning &amp; Statistics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latinLnBrk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+ SciPy +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Statsmodels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Price prediction models</a:t>
            </a:r>
          </a:p>
          <a:p>
            <a:pPr latinLnBrk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Market segmentation clustering</a:t>
            </a:r>
          </a:p>
          <a:p>
            <a:pPr latinLnBrk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Correlation analysis &amp; trend detection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99" y="47230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D8586B-2EEA-81C4-0370-831AA0C87295}"/>
              </a:ext>
            </a:extLst>
          </p:cNvPr>
          <p:cNvSpPr txBox="1"/>
          <p:nvPr/>
        </p:nvSpPr>
        <p:spPr>
          <a:xfrm>
            <a:off x="6821898" y="895047"/>
            <a:ext cx="3904836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5">
                  <a:lumMod val="60000"/>
                  <a:lumOff val="40000"/>
                </a:schemeClr>
              </a:buClr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&amp; Reporting</a:t>
            </a:r>
          </a:p>
          <a:p>
            <a:pPr>
              <a:buClr>
                <a:schemeClr val="accent5">
                  <a:lumMod val="60000"/>
                  <a:lumOff val="40000"/>
                </a:schemeClr>
              </a:buClr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Clr>
                <a:schemeClr val="accent5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>
              <a:buClr>
                <a:schemeClr val="accent5">
                  <a:lumMod val="60000"/>
                  <a:lumOff val="40000"/>
                </a:schemeClr>
              </a:buClr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latinLnBrk="1">
              <a:buClr>
                <a:schemeClr val="accent5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+ Seaborn +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>
              <a:buClr>
                <a:schemeClr val="accent5">
                  <a:lumMod val="60000"/>
                  <a:lumOff val="40000"/>
                </a:schemeClr>
              </a:buClr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latinLnBrk="1">
              <a:buClr>
                <a:schemeClr val="accent5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Business intelligence dashboards</a:t>
            </a:r>
          </a:p>
          <a:p>
            <a:pPr latinLnBrk="1">
              <a:buClr>
                <a:schemeClr val="accent5">
                  <a:lumMod val="60000"/>
                  <a:lumOff val="40000"/>
                </a:schemeClr>
              </a:buClr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latinLnBrk="1">
              <a:buClr>
                <a:schemeClr val="accent5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Interactive charts and heatmaps</a:t>
            </a:r>
          </a:p>
          <a:p>
            <a:pPr latinLnBrk="1">
              <a:buClr>
                <a:schemeClr val="accent5">
                  <a:lumMod val="60000"/>
                  <a:lumOff val="40000"/>
                </a:schemeClr>
              </a:buClr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latinLnBrk="1">
              <a:buClr>
                <a:schemeClr val="accent5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Professional executive reports</a:t>
            </a:r>
          </a:p>
          <a:p>
            <a:pPr marL="285750" indent="-285750" latinLnBrk="1">
              <a:buClr>
                <a:schemeClr val="accent5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accent5">
                  <a:lumMod val="60000"/>
                  <a:lumOff val="40000"/>
                </a:schemeClr>
              </a:buClr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</a:t>
            </a:r>
          </a:p>
          <a:p>
            <a:pPr>
              <a:buClr>
                <a:schemeClr val="accent5">
                  <a:lumMod val="60000"/>
                  <a:lumOff val="40000"/>
                </a:schemeClr>
              </a:buClr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Clr>
                <a:schemeClr val="accent5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 +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Notebooks</a:t>
            </a:r>
          </a:p>
          <a:p>
            <a:pPr>
              <a:buClr>
                <a:schemeClr val="accent5">
                  <a:lumMod val="60000"/>
                  <a:lumOff val="40000"/>
                </a:schemeClr>
              </a:buClr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Clr>
                <a:schemeClr val="accent5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version control</a:t>
            </a:r>
          </a:p>
          <a:p>
            <a:pPr>
              <a:buClr>
                <a:schemeClr val="accent5">
                  <a:lumMod val="60000"/>
                  <a:lumOff val="40000"/>
                </a:schemeClr>
              </a:buClr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Clr>
                <a:schemeClr val="accent5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reproducible architecture</a:t>
            </a:r>
          </a:p>
          <a:p>
            <a:pPr>
              <a:buClr>
                <a:schemeClr val="accent5">
                  <a:lumMod val="60000"/>
                  <a:lumOff val="40000"/>
                </a:schemeClr>
              </a:buClr>
            </a:pP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0F207-E2AD-9108-9368-6FF9627AB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CB7B3FC-CD21-7C75-DB9D-B4FB208801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AA77E95-F49A-785F-2E51-03C3E5882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99" y="47230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AE421A0-680B-0367-AEE4-14B29403B2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359" y="895047"/>
            <a:ext cx="4286848" cy="26387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2F377A6-5E50-BFB2-E4FF-B6F665D2DE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4250" y="895047"/>
            <a:ext cx="6301510" cy="376610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57AF582-A1CB-1B94-E5D6-4F0385DE1E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199" y="3867757"/>
            <a:ext cx="4413407" cy="282932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2AE3831-4E3D-061E-C314-8E345D6268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1280" y="4843414"/>
            <a:ext cx="5013960" cy="1863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178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0"/>
            <a:ext cx="2981643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RESULTS</a:t>
            </a:r>
            <a:br>
              <a:rPr lang="en-GB" dirty="0"/>
            </a:br>
            <a:r>
              <a:rPr lang="en-GB" dirty="0"/>
              <a:t>1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C90BED-6341-E38F-3637-1EF3CB4FC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519" y="889292"/>
            <a:ext cx="7460720" cy="5582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61F40-61F5-A9E4-2028-61D27EB38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90F1862-D4F3-D9EB-176E-2E2938531B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23A3B93-82D2-A57B-4898-3D9B0C72D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0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RESULTS2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F4C0E530-3AAB-E420-2061-2352FB4AEFB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3F5036B-907B-9AB7-BC47-C7C142E40FA7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6BEE55-8C96-27B4-9100-FA02491B2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5" y="731361"/>
            <a:ext cx="5552761" cy="500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53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024A6-C6F7-0E13-B5FE-E6A5870DA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6194CC-45AC-6391-C127-232D7FE17E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2560D1A-A584-25F8-1F57-468796F22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918" y="26397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RESULTS3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BD379B3-43F5-BB42-D7EF-5C1FA28E50D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0D8247-EFB8-6C04-BBBF-310CEEF88E4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440066-329C-AE3A-7701-6D1E87339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292" y="842404"/>
            <a:ext cx="9502364" cy="5659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46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302F3-5B15-F4B3-4FC0-05D49317B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314807-9A27-116F-CC98-E5EEF28F08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A0845DA-C188-DB03-7162-C74DB64A3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6115368" cy="878622"/>
          </a:xfrm>
        </p:spPr>
        <p:txBody>
          <a:bodyPr>
            <a:normAutofit/>
          </a:bodyPr>
          <a:lstStyle/>
          <a:p>
            <a:r>
              <a:rPr lang="en-GB" dirty="0"/>
              <a:t>GitHub repository 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9B11EDF8-3FD7-C9FE-2AA8-09208B3BEFC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4E6ED231-AB91-2C33-0439-AEAC41FE728F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8935B953-0B74-DF35-9464-45E8CB01D8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9388396" cy="25539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hlinkClick r:id="rId4"/>
              </a:rPr>
              <a:t>https://github.com/DesmondKarakara/VOIS_AICTE_Oct2025_DevdiproBhaduri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923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3FACE-D55E-9B4A-7A75-15654F5D4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61536A-9E87-8208-553B-AFA23F55C6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5390BF9-A1B3-D0A5-6FE6-4C64A8B75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10892066" cy="904781"/>
          </a:xfrm>
        </p:spPr>
        <p:txBody>
          <a:bodyPr>
            <a:noAutofit/>
          </a:bodyPr>
          <a:lstStyle/>
          <a:p>
            <a:r>
              <a:rPr lang="en-IN" sz="3600" dirty="0"/>
              <a:t>Getting started with Basics of Python </a:t>
            </a:r>
            <a:r>
              <a:rPr lang="en-GB" sz="3600" dirty="0"/>
              <a:t>Certificate  </a:t>
            </a:r>
            <a:endParaRPr lang="en-IN" sz="36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C0B10ED4-748B-FD2D-3185-4AB559AC71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1BF57D1-2242-C3F4-D177-EE064D5454A4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EE7A22-BBAF-9F27-58F7-9FFF8C31D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1568" y="1275370"/>
            <a:ext cx="6991811" cy="4963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602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CD52E-39EF-82B8-E116-6B0D9B50E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214EFD-3FAC-BE9B-CFBB-2D1FCCED01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359B88B-4EF4-AA7A-A15C-4B2147671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10892066" cy="904781"/>
          </a:xfrm>
        </p:spPr>
        <p:txBody>
          <a:bodyPr>
            <a:noAutofit/>
          </a:bodyPr>
          <a:lstStyle/>
          <a:p>
            <a:r>
              <a:rPr lang="en-IN" sz="3600" dirty="0"/>
              <a:t>Data Visualization </a:t>
            </a:r>
            <a:r>
              <a:rPr lang="en-GB" sz="3600" dirty="0"/>
              <a:t>Certificate  </a:t>
            </a:r>
            <a:endParaRPr lang="en-IN" sz="36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C23E8C61-31F1-4380-CEFB-D75448F856D7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F0577D1-D5B1-726B-4FAB-B353BDE31B12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EF58B9-CA75-4532-23EA-55AA704FB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9050" y="1275370"/>
            <a:ext cx="7136848" cy="5072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684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599</TotalTime>
  <Words>397</Words>
  <Application>Microsoft Office PowerPoint</Application>
  <PresentationFormat>Widescreen</PresentationFormat>
  <Paragraphs>86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AIRBNB HOTEL BOOKING ANALYSIS</vt:lpstr>
      <vt:lpstr>PROBLEM  STATEMENT</vt:lpstr>
      <vt:lpstr>Project Description  </vt:lpstr>
      <vt:lpstr>WHO ARE THE END USERS?</vt:lpstr>
      <vt:lpstr>Technology Used</vt:lpstr>
      <vt:lpstr>Technology Used</vt:lpstr>
      <vt:lpstr>RESULTS 1 </vt:lpstr>
      <vt:lpstr>RESULTS2</vt:lpstr>
      <vt:lpstr>RESULTS3 </vt:lpstr>
      <vt:lpstr>GitHub repository </vt:lpstr>
      <vt:lpstr>Getting started with Basics of Python Certificate  </vt:lpstr>
      <vt:lpstr>Data Visualization Certificate 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Devdipro Bhaduri</cp:lastModifiedBy>
  <cp:revision>117</cp:revision>
  <dcterms:created xsi:type="dcterms:W3CDTF">2021-07-11T13:13:15Z</dcterms:created>
  <dcterms:modified xsi:type="dcterms:W3CDTF">2025-10-07T06:56:06Z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