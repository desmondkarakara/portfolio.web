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65" r:id="rId1"/>
  </p:sldMasterIdLst>
  <p:sldIdLst>
    <p:sldId id="256" r:id="rId2"/>
    <p:sldId id="257" r:id="rId3"/>
    <p:sldId id="258" r:id="rId4"/>
    <p:sldId id="259" r:id="rId5"/>
    <p:sldId id="260" r:id="rId6"/>
    <p:sldId id="261" r:id="rId7"/>
    <p:sldId id="263" r:id="rId8"/>
    <p:sldId id="262" r:id="rId9"/>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792">
          <p15:clr>
            <a:srgbClr val="A4A3A4"/>
          </p15:clr>
        </p15:guide>
        <p15:guide id="2" pos="192">
          <p15:clr>
            <a:srgbClr val="A4A3A4"/>
          </p15:clr>
        </p15:guide>
        <p15:guide id="3" orient="horz" pos="1080">
          <p15:clr>
            <a:srgbClr val="A4A3A4"/>
          </p15:clr>
        </p15:guide>
      </p15:sldGuideLst>
    </p:ext>
    <p:ext uri="http://customooxmlschemas.google.com/">
      <go:slidesCustomData xmlns="" xmlns:go="http://customooxmlschemas.google.com/"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r:id="rId220" roundtripDataSignature="AMtx7miWNY2LB4ETJwrL8F0N+EK9hEhqU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882" autoAdjust="0"/>
    <p:restoredTop sz="94660"/>
  </p:normalViewPr>
  <p:slideViewPr>
    <p:cSldViewPr snapToGrid="0">
      <p:cViewPr varScale="1">
        <p:scale>
          <a:sx n="82" d="100"/>
          <a:sy n="82" d="100"/>
        </p:scale>
        <p:origin x="677" y="72"/>
      </p:cViewPr>
      <p:guideLst>
        <p:guide orient="horz" pos="792"/>
        <p:guide pos="192"/>
        <p:guide orient="horz" pos="10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3" Type="http://schemas.openxmlformats.org/officeDocument/2006/relationships/slide" Target="slides/slide2.xml"/><Relationship Id="rId222"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221"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220" Type="http://customschemas.google.com/relationships/presentationmetadata" Target="metadata"/><Relationship Id="rId5" Type="http://schemas.openxmlformats.org/officeDocument/2006/relationships/slide" Target="slides/slide4.xml"/><Relationship Id="rId224"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223"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cSld name="Titl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18234137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cSld name="Title and Content">
    <p:spTree>
      <p:nvGrpSpPr>
        <p:cNvPr id="1" name=""/>
        <p:cNvGrpSpPr/>
        <p:nvPr/>
      </p:nvGrpSpPr>
      <p:grpSpPr>
        <a:xfrm>
          <a:off x="0" y="0"/>
          <a:ext cx="0" cy="0"/>
          <a:chOff x="0" y="0"/>
          <a:chExt cx="0" cy="0"/>
        </a:xfrm>
      </p:grpSpPr>
    </p:spTree>
    <p:extLst>
      <p:ext uri="{BB962C8B-B14F-4D97-AF65-F5344CB8AC3E}">
        <p14:creationId xmlns:p14="http://schemas.microsoft.com/office/powerpoint/2010/main" val="283787835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p:cSld name="Title and body">
    <p:spTree>
      <p:nvGrpSpPr>
        <p:cNvPr id="1" name="Shape 13"/>
        <p:cNvGrpSpPr/>
        <p:nvPr/>
      </p:nvGrpSpPr>
      <p:grpSpPr>
        <a:xfrm>
          <a:off x="0" y="0"/>
          <a:ext cx="0" cy="0"/>
          <a:chOff x="0" y="0"/>
          <a:chExt cx="0" cy="0"/>
        </a:xfrm>
      </p:grpSpPr>
    </p:spTree>
    <p:extLst>
      <p:ext uri="{BB962C8B-B14F-4D97-AF65-F5344CB8AC3E}">
        <p14:creationId xmlns:p14="http://schemas.microsoft.com/office/powerpoint/2010/main" val="277187755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cSld name="1_Titl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2428266476"/>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2.jp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image" Target="../media/image1.png"/><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pic>
        <p:nvPicPr>
          <p:cNvPr id="13" name="Google Shape;110;p4" descr="A close up of a sign&#10;&#10;Description automatically generated">
            <a:extLst>
              <a:ext uri="{FF2B5EF4-FFF2-40B4-BE49-F238E27FC236}">
                <a16:creationId xmlns:a16="http://schemas.microsoft.com/office/drawing/2014/main" id="{CE849A3B-BCF0-B774-F89E-81965C71F93E}"/>
              </a:ext>
            </a:extLst>
          </p:cNvPr>
          <p:cNvPicPr preferRelativeResize="0"/>
          <p:nvPr/>
        </p:nvPicPr>
        <p:blipFill rotWithShape="1">
          <a:blip r:embed="rId6">
            <a:alphaModFix/>
          </a:blip>
          <a:srcRect/>
          <a:stretch/>
        </p:blipFill>
        <p:spPr>
          <a:xfrm>
            <a:off x="10072688" y="78002"/>
            <a:ext cx="1800225" cy="575514"/>
          </a:xfrm>
          <a:prstGeom prst="rect">
            <a:avLst/>
          </a:prstGeom>
          <a:noFill/>
          <a:ln>
            <a:noFill/>
          </a:ln>
        </p:spPr>
      </p:pic>
      <p:sp>
        <p:nvSpPr>
          <p:cNvPr id="15" name="Rectangle 14">
            <a:extLst>
              <a:ext uri="{FF2B5EF4-FFF2-40B4-BE49-F238E27FC236}">
                <a16:creationId xmlns:a16="http://schemas.microsoft.com/office/drawing/2014/main" id="{E153E6A6-60E4-FE14-1CBC-8CC211274D1C}"/>
              </a:ext>
            </a:extLst>
          </p:cNvPr>
          <p:cNvSpPr/>
          <p:nvPr/>
        </p:nvSpPr>
        <p:spPr>
          <a:xfrm>
            <a:off x="1" y="0"/>
            <a:ext cx="9829800" cy="717630"/>
          </a:xfrm>
          <a:prstGeom prst="rect">
            <a:avLst/>
          </a:prstGeom>
          <a:solidFill>
            <a:srgbClr val="213264"/>
          </a:solidFill>
          <a:ln>
            <a:solidFill>
              <a:srgbClr val="21326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9" name="Rectangle 18">
            <a:extLst>
              <a:ext uri="{FF2B5EF4-FFF2-40B4-BE49-F238E27FC236}">
                <a16:creationId xmlns:a16="http://schemas.microsoft.com/office/drawing/2014/main" id="{2C7CE881-772B-9023-3054-4B219B75D755}"/>
              </a:ext>
            </a:extLst>
          </p:cNvPr>
          <p:cNvSpPr/>
          <p:nvPr/>
        </p:nvSpPr>
        <p:spPr>
          <a:xfrm>
            <a:off x="9888967" y="-419"/>
            <a:ext cx="112283" cy="732357"/>
          </a:xfrm>
          <a:prstGeom prst="rect">
            <a:avLst/>
          </a:prstGeom>
          <a:solidFill>
            <a:srgbClr val="7FBA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31" name="Picture 30" descr="A blue and white background&#10;&#10;Description automatically generated with medium confidence">
            <a:extLst>
              <a:ext uri="{FF2B5EF4-FFF2-40B4-BE49-F238E27FC236}">
                <a16:creationId xmlns:a16="http://schemas.microsoft.com/office/drawing/2014/main" id="{16A7B69A-9B14-87FE-841D-37F0A91D141D}"/>
              </a:ext>
            </a:extLst>
          </p:cNvPr>
          <p:cNvPicPr>
            <a:picLocks noChangeAspect="1"/>
          </p:cNvPicPr>
          <p:nvPr/>
        </p:nvPicPr>
        <p:blipFill rotWithShape="1">
          <a:blip r:embed="rId7">
            <a:alphaModFix amt="16000"/>
          </a:blip>
          <a:srcRect t="24724" r="1619" b="63695"/>
          <a:stretch/>
        </p:blipFill>
        <p:spPr>
          <a:xfrm>
            <a:off x="0" y="-1"/>
            <a:ext cx="9839325" cy="723901"/>
          </a:xfrm>
          <a:prstGeom prst="rect">
            <a:avLst/>
          </a:prstGeom>
        </p:spPr>
      </p:pic>
      <p:sp>
        <p:nvSpPr>
          <p:cNvPr id="2" name="Rectangle 1">
            <a:extLst>
              <a:ext uri="{FF2B5EF4-FFF2-40B4-BE49-F238E27FC236}">
                <a16:creationId xmlns:a16="http://schemas.microsoft.com/office/drawing/2014/main" id="{37B91A16-5D54-2FC0-B0FD-A78085FC1313}"/>
              </a:ext>
            </a:extLst>
          </p:cNvPr>
          <p:cNvSpPr/>
          <p:nvPr/>
        </p:nvSpPr>
        <p:spPr>
          <a:xfrm>
            <a:off x="11925300" y="-419"/>
            <a:ext cx="266700" cy="732357"/>
          </a:xfrm>
          <a:prstGeom prst="rect">
            <a:avLst/>
          </a:prstGeom>
          <a:solidFill>
            <a:srgbClr val="FED5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 bg1="lt1" tx1="dk1" bg2="dk2" tx2="lt2" accent1="accent1" accent2="accent2" accent3="accent3" accent4="accent4" accent5="accent5" accent6="accent6" hlink="hlink" folHlink="folHlink"/>
  <p:sldLayoutIdLst>
    <p:sldLayoutId id="2147483687" r:id="rId1"/>
    <p:sldLayoutId id="2147483701" r:id="rId2"/>
    <p:sldLayoutId id="2147483714" r:id="rId3"/>
    <p:sldLayoutId id="2147483727" r:id="rId4"/>
  </p:sldLayoutIdLst>
  <p:hf sldNum="0" hdr="0" ftr="0" dt="0"/>
  <p:txStyles>
    <p:title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hyperlink" Target="https://www.freepik.com/" TargetMode="Externa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hyperlink" Target="https://github.com/DesmondKarakara/AICTE_smart_irrigation_dev" TargetMode="External"/><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A person sitting at a desk with a computer&#10;&#10;Description automatically generated">
            <a:extLst>
              <a:ext uri="{FF2B5EF4-FFF2-40B4-BE49-F238E27FC236}">
                <a16:creationId xmlns:a16="http://schemas.microsoft.com/office/drawing/2014/main" id="{07B8740D-C76F-46FC-AEFB-23FB0614DB0C}"/>
              </a:ext>
            </a:extLst>
          </p:cNvPr>
          <p:cNvPicPr>
            <a:picLocks noChangeAspect="1"/>
          </p:cNvPicPr>
          <p:nvPr/>
        </p:nvPicPr>
        <p:blipFill>
          <a:blip r:embed="rId2"/>
          <a:stretch>
            <a:fillRect/>
          </a:stretch>
        </p:blipFill>
        <p:spPr>
          <a:xfrm>
            <a:off x="0" y="0"/>
            <a:ext cx="12192000" cy="6858000"/>
          </a:xfrm>
          <a:prstGeom prst="rect">
            <a:avLst/>
          </a:prstGeom>
        </p:spPr>
      </p:pic>
      <p:sp>
        <p:nvSpPr>
          <p:cNvPr id="4" name="Rectangle: Rounded Corners 3">
            <a:extLst>
              <a:ext uri="{FF2B5EF4-FFF2-40B4-BE49-F238E27FC236}">
                <a16:creationId xmlns:a16="http://schemas.microsoft.com/office/drawing/2014/main" id="{C1857762-AD52-483C-B3E1-635C5BBC6F2F}"/>
              </a:ext>
            </a:extLst>
          </p:cNvPr>
          <p:cNvSpPr/>
          <p:nvPr/>
        </p:nvSpPr>
        <p:spPr>
          <a:xfrm>
            <a:off x="5873750" y="584200"/>
            <a:ext cx="4673600" cy="977900"/>
          </a:xfrm>
          <a:prstGeom prst="roundRect">
            <a:avLst/>
          </a:prstGeom>
          <a:solidFill>
            <a:srgbClr val="EBEEF9"/>
          </a:solidFill>
          <a:ln>
            <a:solidFill>
              <a:schemeClr val="bg1">
                <a:lumMod val="85000"/>
              </a:schemeClr>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TextBox 4">
            <a:extLst>
              <a:ext uri="{FF2B5EF4-FFF2-40B4-BE49-F238E27FC236}">
                <a16:creationId xmlns:a16="http://schemas.microsoft.com/office/drawing/2014/main" id="{D5067E9C-C7B9-4476-9708-CBB3F66FD892}"/>
              </a:ext>
            </a:extLst>
          </p:cNvPr>
          <p:cNvSpPr txBox="1"/>
          <p:nvPr/>
        </p:nvSpPr>
        <p:spPr>
          <a:xfrm>
            <a:off x="4543471" y="1974297"/>
            <a:ext cx="6870861" cy="1200329"/>
          </a:xfrm>
          <a:prstGeom prst="rect">
            <a:avLst/>
          </a:prstGeom>
          <a:noFill/>
        </p:spPr>
        <p:txBody>
          <a:bodyPr wrap="square" rtlCol="0">
            <a:spAutoFit/>
          </a:bodyPr>
          <a:lstStyle/>
          <a:p>
            <a:pPr algn="r"/>
            <a:r>
              <a:rPr lang="en-US" sz="3600" b="1" dirty="0">
                <a:solidFill>
                  <a:schemeClr val="bg1"/>
                </a:solidFill>
                <a:latin typeface="+mj-lt"/>
                <a:cs typeface="Times New Roman" panose="02020603050405020304" pitchFamily="18" charset="0"/>
              </a:rPr>
              <a:t>Smart Irrigation using soil moisture and weather data</a:t>
            </a:r>
            <a:endParaRPr lang="en-US" sz="3600" b="1" dirty="0">
              <a:solidFill>
                <a:schemeClr val="bg1"/>
              </a:solidFill>
              <a:latin typeface="Arial" panose="020B0604020202020204" pitchFamily="34" charset="0"/>
              <a:cs typeface="Arial" panose="020B0604020202020204" pitchFamily="34" charset="0"/>
            </a:endParaRPr>
          </a:p>
        </p:txBody>
      </p:sp>
      <p:pic>
        <p:nvPicPr>
          <p:cNvPr id="7" name="Picture 6" descr="A close up of a logo&#10;&#10;Description automatically generated">
            <a:extLst>
              <a:ext uri="{FF2B5EF4-FFF2-40B4-BE49-F238E27FC236}">
                <a16:creationId xmlns:a16="http://schemas.microsoft.com/office/drawing/2014/main" id="{BD3530AF-9771-470E-A9BF-F28AA2275338}"/>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267419" y="868863"/>
            <a:ext cx="1263157" cy="410834"/>
          </a:xfrm>
          <a:prstGeom prst="rect">
            <a:avLst/>
          </a:prstGeom>
        </p:spPr>
      </p:pic>
      <p:sp>
        <p:nvSpPr>
          <p:cNvPr id="3" name="TextBox 2">
            <a:extLst>
              <a:ext uri="{FF2B5EF4-FFF2-40B4-BE49-F238E27FC236}">
                <a16:creationId xmlns:a16="http://schemas.microsoft.com/office/drawing/2014/main" id="{12896FA0-CA24-A157-6411-7A00BE06916E}"/>
              </a:ext>
            </a:extLst>
          </p:cNvPr>
          <p:cNvSpPr txBox="1"/>
          <p:nvPr/>
        </p:nvSpPr>
        <p:spPr>
          <a:xfrm>
            <a:off x="4425992" y="3774691"/>
            <a:ext cx="8216987" cy="1364541"/>
          </a:xfrm>
          <a:prstGeom prst="rect">
            <a:avLst/>
          </a:prstGeom>
          <a:noFill/>
        </p:spPr>
        <p:txBody>
          <a:bodyPr wrap="square" rtlCol="0">
            <a:spAutoFit/>
          </a:bodyPr>
          <a:lstStyle/>
          <a:p>
            <a:r>
              <a:rPr lang="en-US" sz="1600" b="1" dirty="0">
                <a:solidFill>
                  <a:schemeClr val="bg1"/>
                </a:solidFill>
              </a:rPr>
              <a:t>Name – Devdipro Bhaduri</a:t>
            </a:r>
            <a:br>
              <a:rPr lang="en-US" sz="1600" b="1" dirty="0">
                <a:solidFill>
                  <a:schemeClr val="bg1"/>
                </a:solidFill>
              </a:rPr>
            </a:br>
            <a:br>
              <a:rPr lang="en-US" sz="1600" b="1" dirty="0">
                <a:solidFill>
                  <a:schemeClr val="bg1"/>
                </a:solidFill>
              </a:rPr>
            </a:br>
            <a:r>
              <a:rPr lang="en-US" sz="1600" dirty="0">
                <a:solidFill>
                  <a:schemeClr val="bg1"/>
                </a:solidFill>
              </a:rPr>
              <a:t>AICTE Internship Student Registration ID : STU68268ff7e29d31747357687</a:t>
            </a:r>
            <a:br>
              <a:rPr lang="en-US" sz="1600" dirty="0">
                <a:solidFill>
                  <a:schemeClr val="bg1"/>
                </a:solidFill>
              </a:rPr>
            </a:br>
            <a:r>
              <a:rPr lang="en-US" sz="1600" dirty="0">
                <a:solidFill>
                  <a:schemeClr val="bg1"/>
                </a:solidFill>
              </a:rPr>
              <a:t>Student ID (Enrolment number) : 231270110874</a:t>
            </a:r>
            <a:br>
              <a:rPr lang="en-US" sz="1600" dirty="0">
                <a:solidFill>
                  <a:schemeClr val="bg1"/>
                </a:solidFill>
              </a:rPr>
            </a:br>
            <a:r>
              <a:rPr lang="en-IN" sz="1600" dirty="0">
                <a:solidFill>
                  <a:schemeClr val="bg1"/>
                </a:solidFill>
              </a:rPr>
              <a:t>AICTE Internship ID : INTERNSHIP_1748923002683e727a876ea</a:t>
            </a:r>
            <a:endParaRPr lang="en-IN" sz="1600" b="1" dirty="0">
              <a:solidFill>
                <a:schemeClr val="bg1"/>
              </a:solidFill>
            </a:endParaRPr>
          </a:p>
        </p:txBody>
      </p:sp>
    </p:spTree>
    <p:extLst>
      <p:ext uri="{BB962C8B-B14F-4D97-AF65-F5344CB8AC3E}">
        <p14:creationId xmlns:p14="http://schemas.microsoft.com/office/powerpoint/2010/main" val="36712761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094E319-C77C-49E2-964C-6E125D716194}"/>
              </a:ext>
            </a:extLst>
          </p:cNvPr>
          <p:cNvSpPr txBox="1"/>
          <p:nvPr/>
        </p:nvSpPr>
        <p:spPr>
          <a:xfrm>
            <a:off x="191911" y="972537"/>
            <a:ext cx="2652889" cy="400110"/>
          </a:xfrm>
          <a:prstGeom prst="rect">
            <a:avLst/>
          </a:prstGeom>
          <a:noFill/>
        </p:spPr>
        <p:txBody>
          <a:bodyPr wrap="square">
            <a:spAutoFit/>
          </a:bodyPr>
          <a:lstStyle/>
          <a:p>
            <a:r>
              <a:rPr lang="en-IN" sz="2000" b="1" dirty="0">
                <a:solidFill>
                  <a:srgbClr val="213163"/>
                </a:solidFill>
              </a:rPr>
              <a:t>Learning Objectives</a:t>
            </a:r>
            <a:endParaRPr lang="en-IN" sz="2000" dirty="0">
              <a:solidFill>
                <a:srgbClr val="213163"/>
              </a:solidFill>
            </a:endParaRPr>
          </a:p>
        </p:txBody>
      </p:sp>
      <p:sp>
        <p:nvSpPr>
          <p:cNvPr id="3" name="TextBox 2">
            <a:extLst>
              <a:ext uri="{FF2B5EF4-FFF2-40B4-BE49-F238E27FC236}">
                <a16:creationId xmlns:a16="http://schemas.microsoft.com/office/drawing/2014/main" id="{8E1F3497-5370-4874-9908-5AD45214E10B}"/>
              </a:ext>
            </a:extLst>
          </p:cNvPr>
          <p:cNvSpPr txBox="1"/>
          <p:nvPr/>
        </p:nvSpPr>
        <p:spPr>
          <a:xfrm>
            <a:off x="199809" y="6135329"/>
            <a:ext cx="795871" cy="276999"/>
          </a:xfrm>
          <a:prstGeom prst="rect">
            <a:avLst/>
          </a:prstGeom>
          <a:noFill/>
        </p:spPr>
        <p:txBody>
          <a:bodyPr wrap="square" rtlCol="0">
            <a:spAutoFit/>
          </a:bodyPr>
          <a:lstStyle/>
          <a:p>
            <a:pPr>
              <a:spcAft>
                <a:spcPts val="800"/>
              </a:spcAft>
            </a:pPr>
            <a:r>
              <a:rPr lang="en-IN" sz="1200" b="1" dirty="0">
                <a:latin typeface="+mn-lt"/>
              </a:rPr>
              <a:t>Source : </a:t>
            </a:r>
          </a:p>
        </p:txBody>
      </p:sp>
      <p:sp>
        <p:nvSpPr>
          <p:cNvPr id="4" name="TextBox 3">
            <a:extLst>
              <a:ext uri="{FF2B5EF4-FFF2-40B4-BE49-F238E27FC236}">
                <a16:creationId xmlns:a16="http://schemas.microsoft.com/office/drawing/2014/main" id="{ECE830DD-8813-42EB-B27B-B7D85423D0C7}"/>
              </a:ext>
            </a:extLst>
          </p:cNvPr>
          <p:cNvSpPr txBox="1"/>
          <p:nvPr/>
        </p:nvSpPr>
        <p:spPr>
          <a:xfrm>
            <a:off x="880529" y="6135329"/>
            <a:ext cx="1842351" cy="276999"/>
          </a:xfrm>
          <a:prstGeom prst="rect">
            <a:avLst/>
          </a:prstGeom>
          <a:noFill/>
        </p:spPr>
        <p:txBody>
          <a:bodyPr wrap="square" rtlCol="0">
            <a:spAutoFit/>
          </a:bodyPr>
          <a:lstStyle/>
          <a:p>
            <a:pPr>
              <a:spcAft>
                <a:spcPts val="800"/>
              </a:spcAft>
            </a:pPr>
            <a:r>
              <a:rPr lang="en-IN" sz="1200" dirty="0">
                <a:solidFill>
                  <a:srgbClr val="0000FF"/>
                </a:solidFill>
                <a:latin typeface="+mn-lt"/>
                <a:hlinkClick r:id="rId2">
                  <a:extLst>
                    <a:ext uri="{A12FA001-AC4F-418D-AE19-62706E023703}">
                      <ahyp:hlinkClr xmlns:ahyp="http://schemas.microsoft.com/office/drawing/2018/hyperlinkcolor" val="tx"/>
                    </a:ext>
                  </a:extLst>
                </a:hlinkClick>
              </a:rPr>
              <a:t>www.freepik.com/</a:t>
            </a:r>
            <a:endParaRPr lang="en-IN" sz="1200" dirty="0">
              <a:solidFill>
                <a:srgbClr val="0000FF"/>
              </a:solidFill>
              <a:latin typeface="+mn-lt"/>
            </a:endParaRPr>
          </a:p>
        </p:txBody>
      </p:sp>
      <p:cxnSp>
        <p:nvCxnSpPr>
          <p:cNvPr id="5" name="Straight Connector 4">
            <a:extLst>
              <a:ext uri="{FF2B5EF4-FFF2-40B4-BE49-F238E27FC236}">
                <a16:creationId xmlns:a16="http://schemas.microsoft.com/office/drawing/2014/main" id="{CA22F707-7F22-48A3-97EC-98EFB1023A55}"/>
              </a:ext>
            </a:extLst>
          </p:cNvPr>
          <p:cNvCxnSpPr/>
          <p:nvPr/>
        </p:nvCxnSpPr>
        <p:spPr>
          <a:xfrm>
            <a:off x="0" y="6055360"/>
            <a:ext cx="12192000" cy="0"/>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pic>
        <p:nvPicPr>
          <p:cNvPr id="6" name="Picture 5" descr="A ladder leading to a large yellow circle&#10;&#10;Description automatically generated">
            <a:extLst>
              <a:ext uri="{FF2B5EF4-FFF2-40B4-BE49-F238E27FC236}">
                <a16:creationId xmlns:a16="http://schemas.microsoft.com/office/drawing/2014/main" id="{E2920B14-B344-4926-9729-BC7EBD91FF9A}"/>
              </a:ext>
            </a:extLst>
          </p:cNvPr>
          <p:cNvPicPr>
            <a:picLocks noChangeAspect="1"/>
          </p:cNvPicPr>
          <p:nvPr/>
        </p:nvPicPr>
        <p:blipFill rotWithShape="1">
          <a:blip r:embed="rId3">
            <a:alphaModFix amt="85000"/>
          </a:blip>
          <a:srcRect l="13763" t="6135" r="13650"/>
          <a:stretch/>
        </p:blipFill>
        <p:spPr>
          <a:xfrm>
            <a:off x="7345680" y="1442720"/>
            <a:ext cx="4500880" cy="4632960"/>
          </a:xfrm>
          <a:prstGeom prst="rect">
            <a:avLst/>
          </a:prstGeom>
        </p:spPr>
      </p:pic>
      <p:sp>
        <p:nvSpPr>
          <p:cNvPr id="7" name="TextBox 6">
            <a:extLst>
              <a:ext uri="{FF2B5EF4-FFF2-40B4-BE49-F238E27FC236}">
                <a16:creationId xmlns:a16="http://schemas.microsoft.com/office/drawing/2014/main" id="{6C264928-EACB-4739-BDDA-6799C99356F3}"/>
              </a:ext>
            </a:extLst>
          </p:cNvPr>
          <p:cNvSpPr txBox="1"/>
          <p:nvPr/>
        </p:nvSpPr>
        <p:spPr>
          <a:xfrm>
            <a:off x="8839200" y="3168609"/>
            <a:ext cx="1503681" cy="630942"/>
          </a:xfrm>
          <a:prstGeom prst="rect">
            <a:avLst/>
          </a:prstGeom>
          <a:noFill/>
        </p:spPr>
        <p:txBody>
          <a:bodyPr wrap="square" rtlCol="0">
            <a:spAutoFit/>
          </a:bodyPr>
          <a:lstStyle/>
          <a:p>
            <a:pPr>
              <a:spcAft>
                <a:spcPts val="800"/>
              </a:spcAft>
            </a:pPr>
            <a:r>
              <a:rPr lang="en-IN" sz="3500" b="1" dirty="0">
                <a:solidFill>
                  <a:schemeClr val="tx1"/>
                </a:solidFill>
                <a:latin typeface="+mn-lt"/>
              </a:rPr>
              <a:t>GOAL</a:t>
            </a:r>
          </a:p>
        </p:txBody>
      </p:sp>
      <p:sp>
        <p:nvSpPr>
          <p:cNvPr id="8" name="TextBox 7">
            <a:extLst>
              <a:ext uri="{FF2B5EF4-FFF2-40B4-BE49-F238E27FC236}">
                <a16:creationId xmlns:a16="http://schemas.microsoft.com/office/drawing/2014/main" id="{DEB3D0B7-7019-D6E1-71C8-3CB67D67D910}"/>
              </a:ext>
            </a:extLst>
          </p:cNvPr>
          <p:cNvSpPr txBox="1"/>
          <p:nvPr/>
        </p:nvSpPr>
        <p:spPr>
          <a:xfrm>
            <a:off x="191911" y="1772814"/>
            <a:ext cx="5600647" cy="3046988"/>
          </a:xfrm>
          <a:prstGeom prst="rect">
            <a:avLst/>
          </a:prstGeom>
          <a:noFill/>
        </p:spPr>
        <p:txBody>
          <a:bodyPr wrap="square" rtlCol="0">
            <a:spAutoFit/>
          </a:bodyPr>
          <a:lstStyle/>
          <a:p>
            <a:pPr marL="285750" indent="-285750" algn="just">
              <a:buFont typeface="Wingdings" panose="05000000000000000000" pitchFamily="2" charset="2"/>
              <a:buChar char="Ø"/>
            </a:pPr>
            <a:r>
              <a:rPr lang="en-US" sz="1600" b="1" dirty="0"/>
              <a:t>Build proficiency in developing and deploying a cohesive machine learning workflow which predicts whether or not to activate a sprinkler and estimates soil moisture from sensor inputs.</a:t>
            </a:r>
          </a:p>
          <a:p>
            <a:pPr marL="285750" indent="-285750" algn="just">
              <a:buFont typeface="Wingdings" panose="05000000000000000000" pitchFamily="2" charset="2"/>
              <a:buChar char="Ø"/>
            </a:pPr>
            <a:r>
              <a:rPr lang="en-US" sz="1600" b="1" dirty="0"/>
              <a:t>Learn to prepare and scale real-world data, handle imbalanced classification problems to improve predictive balance and thoroughly evaluate model results using precision-recall and regression error metrics.</a:t>
            </a:r>
          </a:p>
          <a:p>
            <a:pPr marL="285750" indent="-285750" algn="just">
              <a:buFont typeface="Wingdings" panose="05000000000000000000" pitchFamily="2" charset="2"/>
              <a:buChar char="Ø"/>
            </a:pPr>
            <a:r>
              <a:rPr lang="en-US" sz="1600" b="1" dirty="0"/>
              <a:t>Finally, learn to encapsulate a trained model within an intuitive </a:t>
            </a:r>
            <a:r>
              <a:rPr lang="en-US" sz="1600" b="1" dirty="0" err="1"/>
              <a:t>Streamlit</a:t>
            </a:r>
            <a:r>
              <a:rPr lang="en-US" sz="1600" b="1" dirty="0"/>
              <a:t> application for real time decision support.</a:t>
            </a:r>
            <a:endParaRPr lang="en-IN" sz="1600" b="1" dirty="0"/>
          </a:p>
        </p:txBody>
      </p:sp>
    </p:spTree>
    <p:extLst>
      <p:ext uri="{BB962C8B-B14F-4D97-AF65-F5344CB8AC3E}">
        <p14:creationId xmlns:p14="http://schemas.microsoft.com/office/powerpoint/2010/main" val="293205248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361D872-7EC7-439F-A588-B1D90CB7A92F}"/>
              </a:ext>
            </a:extLst>
          </p:cNvPr>
          <p:cNvSpPr txBox="1"/>
          <p:nvPr/>
        </p:nvSpPr>
        <p:spPr>
          <a:xfrm>
            <a:off x="135834" y="1067664"/>
            <a:ext cx="6102626" cy="400110"/>
          </a:xfrm>
          <a:prstGeom prst="rect">
            <a:avLst/>
          </a:prstGeom>
          <a:noFill/>
        </p:spPr>
        <p:txBody>
          <a:bodyPr wrap="square">
            <a:spAutoFit/>
          </a:bodyPr>
          <a:lstStyle/>
          <a:p>
            <a:r>
              <a:rPr lang="en-US" sz="1800" b="1" dirty="0">
                <a:solidFill>
                  <a:srgbClr val="213163"/>
                </a:solidFill>
              </a:rPr>
              <a:t>T</a:t>
            </a:r>
            <a:r>
              <a:rPr lang="en-IN" sz="2000" b="1" dirty="0" err="1">
                <a:solidFill>
                  <a:srgbClr val="213163"/>
                </a:solidFill>
              </a:rPr>
              <a:t>ools</a:t>
            </a:r>
            <a:r>
              <a:rPr lang="en-IN" sz="2000" b="1" dirty="0">
                <a:solidFill>
                  <a:srgbClr val="213163"/>
                </a:solidFill>
              </a:rPr>
              <a:t> and Technology used </a:t>
            </a:r>
          </a:p>
        </p:txBody>
      </p:sp>
      <p:sp>
        <p:nvSpPr>
          <p:cNvPr id="2" name="TextBox 1">
            <a:extLst>
              <a:ext uri="{FF2B5EF4-FFF2-40B4-BE49-F238E27FC236}">
                <a16:creationId xmlns:a16="http://schemas.microsoft.com/office/drawing/2014/main" id="{5519F719-A86B-030A-0659-69F4C1B29499}"/>
              </a:ext>
            </a:extLst>
          </p:cNvPr>
          <p:cNvSpPr txBox="1"/>
          <p:nvPr/>
        </p:nvSpPr>
        <p:spPr>
          <a:xfrm>
            <a:off x="135834" y="1950098"/>
            <a:ext cx="9036448" cy="2103589"/>
          </a:xfrm>
          <a:prstGeom prst="rect">
            <a:avLst/>
          </a:prstGeom>
          <a:noFill/>
        </p:spPr>
        <p:txBody>
          <a:bodyPr wrap="none" rtlCol="0">
            <a:spAutoFit/>
          </a:bodyPr>
          <a:lstStyle/>
          <a:p>
            <a:pPr marL="342900" indent="-342900">
              <a:buFont typeface="Arial" panose="020B0604020202020204" pitchFamily="34" charset="0"/>
              <a:buChar char="•"/>
            </a:pPr>
            <a:r>
              <a:rPr lang="en-IN" b="1" dirty="0"/>
              <a:t>Python</a:t>
            </a:r>
            <a:r>
              <a:rPr lang="en-IN" dirty="0"/>
              <a:t> for core logic</a:t>
            </a:r>
          </a:p>
          <a:p>
            <a:pPr marL="342900" indent="-342900">
              <a:buFont typeface="Arial" panose="020B0604020202020204" pitchFamily="34" charset="0"/>
              <a:buChar char="•"/>
            </a:pPr>
            <a:r>
              <a:rPr lang="en-IN" b="1" dirty="0"/>
              <a:t>Pandas &amp; NumPy</a:t>
            </a:r>
            <a:r>
              <a:rPr lang="en-IN" dirty="0"/>
              <a:t> for data handling</a:t>
            </a:r>
          </a:p>
          <a:p>
            <a:pPr marL="342900" indent="-342900">
              <a:buFont typeface="Arial" panose="020B0604020202020204" pitchFamily="34" charset="0"/>
              <a:buChar char="•"/>
            </a:pPr>
            <a:r>
              <a:rPr lang="en-IN" b="1" dirty="0"/>
              <a:t>scikit-learn</a:t>
            </a:r>
            <a:r>
              <a:rPr lang="en-IN" dirty="0"/>
              <a:t> (</a:t>
            </a:r>
            <a:r>
              <a:rPr lang="en-IN" dirty="0" err="1"/>
              <a:t>RandomForestClassifier</a:t>
            </a:r>
            <a:r>
              <a:rPr lang="en-IN" dirty="0"/>
              <a:t> &amp; Regressor, </a:t>
            </a:r>
            <a:r>
              <a:rPr lang="en-IN" dirty="0" err="1"/>
              <a:t>class_weight</a:t>
            </a:r>
            <a:r>
              <a:rPr lang="en-IN" dirty="0"/>
              <a:t>, train-test split)</a:t>
            </a:r>
          </a:p>
          <a:p>
            <a:pPr marL="342900" indent="-342900">
              <a:buFont typeface="Arial" panose="020B0604020202020204" pitchFamily="34" charset="0"/>
              <a:buChar char="•"/>
            </a:pPr>
            <a:r>
              <a:rPr lang="en-IN" b="1" dirty="0" err="1"/>
              <a:t>Joblib</a:t>
            </a:r>
            <a:r>
              <a:rPr lang="en-IN" dirty="0"/>
              <a:t> for model serialization</a:t>
            </a:r>
          </a:p>
          <a:p>
            <a:pPr marL="342900" indent="-342900">
              <a:buFont typeface="Arial" panose="020B0604020202020204" pitchFamily="34" charset="0"/>
              <a:buChar char="•"/>
            </a:pPr>
            <a:r>
              <a:rPr lang="en-IN" b="1" dirty="0" err="1"/>
              <a:t>Streamlit</a:t>
            </a:r>
            <a:r>
              <a:rPr lang="en-IN" dirty="0"/>
              <a:t> for building the web interface</a:t>
            </a:r>
          </a:p>
          <a:p>
            <a:pPr marL="342900" indent="-342900">
              <a:buFont typeface="Arial" panose="020B0604020202020204" pitchFamily="34" charset="0"/>
              <a:buChar char="•"/>
            </a:pPr>
            <a:r>
              <a:rPr lang="en-IN" b="1" dirty="0"/>
              <a:t>Matplotlib</a:t>
            </a:r>
            <a:r>
              <a:rPr lang="en-IN" dirty="0"/>
              <a:t> for plotting and </a:t>
            </a:r>
            <a:r>
              <a:rPr lang="en-IN" b="1" dirty="0" err="1"/>
              <a:t>Plotly</a:t>
            </a:r>
            <a:r>
              <a:rPr lang="en-IN" dirty="0"/>
              <a:t> for interactive charts</a:t>
            </a:r>
          </a:p>
          <a:p>
            <a:pPr marL="342900" indent="-342900">
              <a:buFont typeface="Arial" panose="020B0604020202020204" pitchFamily="34" charset="0"/>
              <a:buChar char="•"/>
            </a:pPr>
            <a:endParaRPr lang="en-IN" dirty="0"/>
          </a:p>
        </p:txBody>
      </p:sp>
    </p:spTree>
    <p:extLst>
      <p:ext uri="{BB962C8B-B14F-4D97-AF65-F5344CB8AC3E}">
        <p14:creationId xmlns:p14="http://schemas.microsoft.com/office/powerpoint/2010/main" val="56457126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361D872-7EC7-439F-A588-B1D90CB7A92F}"/>
              </a:ext>
            </a:extLst>
          </p:cNvPr>
          <p:cNvSpPr txBox="1"/>
          <p:nvPr/>
        </p:nvSpPr>
        <p:spPr>
          <a:xfrm>
            <a:off x="268356" y="1014656"/>
            <a:ext cx="6102626" cy="400110"/>
          </a:xfrm>
          <a:prstGeom prst="rect">
            <a:avLst/>
          </a:prstGeom>
          <a:noFill/>
        </p:spPr>
        <p:txBody>
          <a:bodyPr wrap="square">
            <a:spAutoFit/>
          </a:bodyPr>
          <a:lstStyle/>
          <a:p>
            <a:r>
              <a:rPr lang="en-US" sz="2000" b="1" dirty="0">
                <a:solidFill>
                  <a:srgbClr val="213163"/>
                </a:solidFill>
              </a:rPr>
              <a:t>Methodology</a:t>
            </a:r>
            <a:r>
              <a:rPr lang="en-US" sz="1800" b="1" dirty="0">
                <a:solidFill>
                  <a:srgbClr val="213163"/>
                </a:solidFill>
              </a:rPr>
              <a:t> </a:t>
            </a:r>
            <a:endParaRPr lang="en-IN" sz="1800" dirty="0">
              <a:solidFill>
                <a:srgbClr val="213163"/>
              </a:solidFill>
            </a:endParaRPr>
          </a:p>
        </p:txBody>
      </p:sp>
      <p:sp>
        <p:nvSpPr>
          <p:cNvPr id="2" name="TextBox 1">
            <a:extLst>
              <a:ext uri="{FF2B5EF4-FFF2-40B4-BE49-F238E27FC236}">
                <a16:creationId xmlns:a16="http://schemas.microsoft.com/office/drawing/2014/main" id="{6388D5F3-25E4-6063-0575-8D62CD6D6B07}"/>
              </a:ext>
            </a:extLst>
          </p:cNvPr>
          <p:cNvSpPr txBox="1"/>
          <p:nvPr/>
        </p:nvSpPr>
        <p:spPr>
          <a:xfrm>
            <a:off x="511435" y="3429000"/>
            <a:ext cx="9313703" cy="3231654"/>
          </a:xfrm>
          <a:prstGeom prst="rect">
            <a:avLst/>
          </a:prstGeom>
          <a:noFill/>
        </p:spPr>
        <p:txBody>
          <a:bodyPr wrap="square" rtlCol="0">
            <a:spAutoFit/>
          </a:bodyPr>
          <a:lstStyle/>
          <a:p>
            <a:r>
              <a:rPr lang="en-US" sz="1200" b="1" dirty="0"/>
              <a:t>Detailed Work (Improvisation/Improvement) :</a:t>
            </a:r>
            <a:br>
              <a:rPr lang="en-US" sz="1200" dirty="0"/>
            </a:br>
            <a:r>
              <a:rPr lang="en-US" sz="1200" dirty="0"/>
              <a:t>Defined inputs and targets up front—extracting X from the 20 sensor columns and explicit </a:t>
            </a:r>
            <a:r>
              <a:rPr lang="en-US" sz="1200" dirty="0" err="1"/>
              <a:t>DataFrame</a:t>
            </a:r>
            <a:r>
              <a:rPr lang="en-US" sz="1200" dirty="0"/>
              <a:t> columns </a:t>
            </a:r>
            <a:r>
              <a:rPr lang="en-US" sz="1200" dirty="0" err="1"/>
              <a:t>Y_class</a:t>
            </a:r>
            <a:r>
              <a:rPr lang="en-US" sz="1200" dirty="0"/>
              <a:t> = </a:t>
            </a:r>
            <a:r>
              <a:rPr lang="en-US" sz="1200" dirty="0" err="1"/>
              <a:t>df</a:t>
            </a:r>
            <a:r>
              <a:rPr lang="en-US" sz="1200" dirty="0"/>
              <a:t>[['parcel_0','parcel_1','parcel_2']] and, for demonstration, a synthetic </a:t>
            </a:r>
            <a:r>
              <a:rPr lang="en-US" sz="1200" dirty="0" err="1"/>
              <a:t>Y_reg</a:t>
            </a:r>
            <a:r>
              <a:rPr lang="en-US" sz="1200" dirty="0"/>
              <a:t> = </a:t>
            </a:r>
            <a:r>
              <a:rPr lang="en-US" sz="1200" dirty="0" err="1"/>
              <a:t>df</a:t>
            </a:r>
            <a:r>
              <a:rPr lang="en-US" sz="1200" dirty="0"/>
              <a:t>[['</a:t>
            </a:r>
            <a:r>
              <a:rPr lang="en-US" sz="1200" dirty="0" err="1"/>
              <a:t>moisture_level</a:t>
            </a:r>
            <a:r>
              <a:rPr lang="en-US" sz="1200" dirty="0"/>
              <a:t>']] generated as a simple sensor average.</a:t>
            </a:r>
          </a:p>
          <a:p>
            <a:endParaRPr lang="en-US" sz="1200" dirty="0"/>
          </a:p>
          <a:p>
            <a:r>
              <a:rPr lang="en-US" sz="1200" dirty="0"/>
              <a:t>Fixed the classification report by looping over each parcel column and calling </a:t>
            </a:r>
            <a:r>
              <a:rPr lang="en-US" sz="1200" dirty="0" err="1"/>
              <a:t>classification_report</a:t>
            </a:r>
            <a:r>
              <a:rPr lang="en-US" sz="1200" dirty="0"/>
              <a:t> on 1-D arrays, so we now see per-parcel precision/recall/F1 rather than a runtime error.</a:t>
            </a:r>
          </a:p>
          <a:p>
            <a:endParaRPr lang="en-US" sz="1200" dirty="0"/>
          </a:p>
          <a:p>
            <a:r>
              <a:rPr lang="en-US" sz="1200" dirty="0"/>
              <a:t>Balanced the classifier via </a:t>
            </a:r>
            <a:r>
              <a:rPr lang="en-US" sz="1200" dirty="0" err="1"/>
              <a:t>class_weight</a:t>
            </a:r>
            <a:r>
              <a:rPr lang="en-US" sz="1200" dirty="0"/>
              <a:t>='balanced' in </a:t>
            </a:r>
            <a:r>
              <a:rPr lang="en-US" sz="1200" dirty="0" err="1"/>
              <a:t>RandomForest</a:t>
            </a:r>
            <a:r>
              <a:rPr lang="en-US" sz="1200" dirty="0"/>
              <a:t>, which boosted parcel_2 recall from ≈0.48 to ≈0.70+, lifting macro-F1 from 0.83 to ≈0.87 and micro-F1 (accuracy) from 0.89 to ≈0.91.</a:t>
            </a:r>
          </a:p>
          <a:p>
            <a:endParaRPr lang="en-US" sz="1200" dirty="0"/>
          </a:p>
          <a:p>
            <a:r>
              <a:rPr lang="en-US" sz="1200" dirty="0"/>
              <a:t>Added a regression model—a </a:t>
            </a:r>
            <a:r>
              <a:rPr lang="en-US" sz="1200" dirty="0" err="1"/>
              <a:t>RandomForestRegressor</a:t>
            </a:r>
            <a:r>
              <a:rPr lang="en-US" sz="1200" dirty="0"/>
              <a:t> on the moisture target—so you now get an end-to-end multitask pipeline. The regression MSE (~0.049) translates to an RMSE of ~0.22 units, or ≈6% error over the observed 0–3.5 moisture range, which is visually confirmed by a tight Actual vs. Predicted scatter hugging the 45° line.</a:t>
            </a:r>
          </a:p>
          <a:p>
            <a:endParaRPr lang="en-US" sz="1200" dirty="0"/>
          </a:p>
          <a:p>
            <a:r>
              <a:rPr lang="en-US" sz="1200" dirty="0"/>
              <a:t>Streamlined saving/loading by packing both models into a single models = {'classifier': </a:t>
            </a:r>
            <a:r>
              <a:rPr lang="en-US" sz="1200" dirty="0" err="1"/>
              <a:t>clf</a:t>
            </a:r>
            <a:r>
              <a:rPr lang="en-US" sz="1200" dirty="0"/>
              <a:t>, 'regressor': reg} and dumping with </a:t>
            </a:r>
            <a:r>
              <a:rPr lang="en-US" sz="1200" dirty="0" err="1"/>
              <a:t>joblib.dump</a:t>
            </a:r>
            <a:r>
              <a:rPr lang="en-US" sz="1200" dirty="0"/>
              <a:t>(models, '</a:t>
            </a:r>
            <a:r>
              <a:rPr lang="en-US" sz="1200" dirty="0" err="1"/>
              <a:t>combined.pkl</a:t>
            </a:r>
            <a:r>
              <a:rPr lang="en-US" sz="1200" dirty="0"/>
              <a:t>'), avoiding separate files and ensuring consistency.</a:t>
            </a:r>
            <a:endParaRPr lang="en-IN" sz="1200" dirty="0"/>
          </a:p>
        </p:txBody>
      </p:sp>
      <p:sp>
        <p:nvSpPr>
          <p:cNvPr id="8" name="Rectangle 5">
            <a:extLst>
              <a:ext uri="{FF2B5EF4-FFF2-40B4-BE49-F238E27FC236}">
                <a16:creationId xmlns:a16="http://schemas.microsoft.com/office/drawing/2014/main" id="{DCADB09D-E82E-E315-C479-698A9EFEABC5}"/>
              </a:ext>
            </a:extLst>
          </p:cNvPr>
          <p:cNvSpPr>
            <a:spLocks noChangeArrowheads="1"/>
          </p:cNvSpPr>
          <p:nvPr/>
        </p:nvSpPr>
        <p:spPr bwMode="auto">
          <a:xfrm>
            <a:off x="511435" y="1760163"/>
            <a:ext cx="8220076" cy="13234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1600" b="1" i="0" u="none" strike="noStrike" cap="none" normalizeH="0" baseline="0" dirty="0">
                <a:ln>
                  <a:noFill/>
                </a:ln>
                <a:solidFill>
                  <a:schemeClr val="tx1"/>
                </a:solidFill>
                <a:effectLst/>
                <a:latin typeface="+mj-lt"/>
              </a:rPr>
              <a:t>Cleaned and scaled 20 sensor features, then created a balanced Random Forest classifier (</a:t>
            </a:r>
            <a:r>
              <a:rPr kumimoji="0" lang="en-US" altLang="en-US" sz="1600" b="1" i="0" u="none" strike="noStrike" cap="none" normalizeH="0" baseline="0" dirty="0" err="1">
                <a:ln>
                  <a:noFill/>
                </a:ln>
                <a:solidFill>
                  <a:schemeClr val="tx1"/>
                </a:solidFill>
                <a:effectLst/>
                <a:latin typeface="+mj-lt"/>
              </a:rPr>
              <a:t>class_weight</a:t>
            </a:r>
            <a:r>
              <a:rPr kumimoji="0" lang="en-US" altLang="en-US" sz="1600" b="1" i="0" u="none" strike="noStrike" cap="none" normalizeH="0" baseline="0" dirty="0">
                <a:ln>
                  <a:noFill/>
                </a:ln>
                <a:solidFill>
                  <a:schemeClr val="tx1"/>
                </a:solidFill>
                <a:effectLst/>
                <a:latin typeface="+mj-lt"/>
              </a:rPr>
              <a:t>='balanced') for three parcel labels and a Random Forest regressor for moisture. Evaluated classification with per-parcel F1-scores and regression via MSE. Serialized the best models into a combined .</a:t>
            </a:r>
            <a:r>
              <a:rPr kumimoji="0" lang="en-US" altLang="en-US" sz="1600" b="1" i="0" u="none" strike="noStrike" cap="none" normalizeH="0" baseline="0" dirty="0" err="1">
                <a:ln>
                  <a:noFill/>
                </a:ln>
                <a:solidFill>
                  <a:schemeClr val="tx1"/>
                </a:solidFill>
                <a:effectLst/>
                <a:latin typeface="+mj-lt"/>
              </a:rPr>
              <a:t>pkl</a:t>
            </a:r>
            <a:r>
              <a:rPr kumimoji="0" lang="en-US" altLang="en-US" sz="1600" b="1" i="0" u="none" strike="noStrike" cap="none" normalizeH="0" baseline="0" dirty="0">
                <a:ln>
                  <a:noFill/>
                </a:ln>
                <a:solidFill>
                  <a:schemeClr val="tx1"/>
                </a:solidFill>
                <a:effectLst/>
                <a:latin typeface="+mj-lt"/>
              </a:rPr>
              <a:t> and deployed them in </a:t>
            </a:r>
            <a:r>
              <a:rPr kumimoji="0" lang="en-US" altLang="en-US" sz="1600" b="1" i="0" u="none" strike="noStrike" cap="none" normalizeH="0" baseline="0" dirty="0" err="1">
                <a:ln>
                  <a:noFill/>
                </a:ln>
                <a:solidFill>
                  <a:schemeClr val="tx1"/>
                </a:solidFill>
                <a:effectLst/>
                <a:latin typeface="+mj-lt"/>
              </a:rPr>
              <a:t>Streamlit</a:t>
            </a:r>
            <a:r>
              <a:rPr kumimoji="0" lang="en-US" altLang="en-US" sz="1600" b="1" i="0" u="none" strike="noStrike" cap="none" normalizeH="0" baseline="0" dirty="0">
                <a:ln>
                  <a:noFill/>
                </a:ln>
                <a:solidFill>
                  <a:schemeClr val="tx1"/>
                </a:solidFill>
                <a:effectLst/>
                <a:latin typeface="+mj-lt"/>
              </a:rPr>
              <a:t> for live inference. </a:t>
            </a:r>
          </a:p>
        </p:txBody>
      </p:sp>
    </p:spTree>
    <p:extLst>
      <p:ext uri="{BB962C8B-B14F-4D97-AF65-F5344CB8AC3E}">
        <p14:creationId xmlns:p14="http://schemas.microsoft.com/office/powerpoint/2010/main" val="270679001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361D872-7EC7-439F-A588-B1D90CB7A92F}"/>
              </a:ext>
            </a:extLst>
          </p:cNvPr>
          <p:cNvSpPr txBox="1"/>
          <p:nvPr/>
        </p:nvSpPr>
        <p:spPr>
          <a:xfrm>
            <a:off x="255104" y="1054412"/>
            <a:ext cx="6102626" cy="400110"/>
          </a:xfrm>
          <a:prstGeom prst="rect">
            <a:avLst/>
          </a:prstGeom>
          <a:noFill/>
        </p:spPr>
        <p:txBody>
          <a:bodyPr wrap="square">
            <a:spAutoFit/>
          </a:bodyPr>
          <a:lstStyle/>
          <a:p>
            <a:r>
              <a:rPr lang="en-US" sz="2000" b="1" dirty="0">
                <a:solidFill>
                  <a:srgbClr val="213163"/>
                </a:solidFill>
              </a:rPr>
              <a:t>Problem Statement:  </a:t>
            </a:r>
            <a:endParaRPr lang="en-IN" sz="2000" b="1" dirty="0">
              <a:solidFill>
                <a:srgbClr val="213163"/>
              </a:solidFill>
            </a:endParaRPr>
          </a:p>
        </p:txBody>
      </p:sp>
      <p:sp>
        <p:nvSpPr>
          <p:cNvPr id="2" name="TextBox 1">
            <a:extLst>
              <a:ext uri="{FF2B5EF4-FFF2-40B4-BE49-F238E27FC236}">
                <a16:creationId xmlns:a16="http://schemas.microsoft.com/office/drawing/2014/main" id="{F33AD63B-C356-F781-BBAB-0D1D5B2E81CD}"/>
              </a:ext>
            </a:extLst>
          </p:cNvPr>
          <p:cNvSpPr txBox="1"/>
          <p:nvPr/>
        </p:nvSpPr>
        <p:spPr>
          <a:xfrm>
            <a:off x="255104" y="1925859"/>
            <a:ext cx="8162925" cy="1569660"/>
          </a:xfrm>
          <a:prstGeom prst="rect">
            <a:avLst/>
          </a:prstGeom>
          <a:noFill/>
        </p:spPr>
        <p:txBody>
          <a:bodyPr wrap="square" rtlCol="0">
            <a:spAutoFit/>
          </a:bodyPr>
          <a:lstStyle/>
          <a:p>
            <a:pPr algn="just"/>
            <a:r>
              <a:rPr lang="en-US" sz="1600" b="1" dirty="0"/>
              <a:t>Conventional irrigation treats water delivery as a fixed schedule, creating wasted irrigation and potential stress to crops. What we need is a real time system that can take the 20 sensor readings, predict the sprinkler parcels to turn on, and estimate soil moisture. It will need to address the imbalanced parcel labels, suggest accurate continuous estimates, and provide an easy-to-use dashboard to present results.</a:t>
            </a:r>
            <a:endParaRPr lang="en-IN" sz="1600" b="1" dirty="0"/>
          </a:p>
        </p:txBody>
      </p:sp>
    </p:spTree>
    <p:extLst>
      <p:ext uri="{BB962C8B-B14F-4D97-AF65-F5344CB8AC3E}">
        <p14:creationId xmlns:p14="http://schemas.microsoft.com/office/powerpoint/2010/main" val="3196592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361D872-7EC7-439F-A588-B1D90CB7A92F}"/>
              </a:ext>
            </a:extLst>
          </p:cNvPr>
          <p:cNvSpPr txBox="1"/>
          <p:nvPr/>
        </p:nvSpPr>
        <p:spPr>
          <a:xfrm>
            <a:off x="255104" y="1054412"/>
            <a:ext cx="6102626" cy="400110"/>
          </a:xfrm>
          <a:prstGeom prst="rect">
            <a:avLst/>
          </a:prstGeom>
          <a:noFill/>
        </p:spPr>
        <p:txBody>
          <a:bodyPr wrap="square">
            <a:spAutoFit/>
          </a:bodyPr>
          <a:lstStyle/>
          <a:p>
            <a:r>
              <a:rPr lang="en-US" sz="2000" b="1" dirty="0">
                <a:solidFill>
                  <a:srgbClr val="213163"/>
                </a:solidFill>
              </a:rPr>
              <a:t>Solution:  </a:t>
            </a:r>
            <a:endParaRPr lang="en-IN" sz="2000" b="1" dirty="0">
              <a:solidFill>
                <a:srgbClr val="213163"/>
              </a:solidFill>
            </a:endParaRPr>
          </a:p>
        </p:txBody>
      </p:sp>
      <p:sp>
        <p:nvSpPr>
          <p:cNvPr id="2" name="TextBox 1">
            <a:extLst>
              <a:ext uri="{FF2B5EF4-FFF2-40B4-BE49-F238E27FC236}">
                <a16:creationId xmlns:a16="http://schemas.microsoft.com/office/drawing/2014/main" id="{28FE9D4B-B974-E75E-CEBB-58E9A2490E25}"/>
              </a:ext>
            </a:extLst>
          </p:cNvPr>
          <p:cNvSpPr txBox="1"/>
          <p:nvPr/>
        </p:nvSpPr>
        <p:spPr>
          <a:xfrm>
            <a:off x="255104" y="2108719"/>
            <a:ext cx="6444276" cy="1815882"/>
          </a:xfrm>
          <a:prstGeom prst="rect">
            <a:avLst/>
          </a:prstGeom>
          <a:noFill/>
        </p:spPr>
        <p:txBody>
          <a:bodyPr wrap="square" rtlCol="0">
            <a:spAutoFit/>
          </a:bodyPr>
          <a:lstStyle/>
          <a:p>
            <a:pPr algn="just"/>
            <a:r>
              <a:rPr lang="en-US" sz="1600" dirty="0"/>
              <a:t>Constructed a two-phased ML pipeline: One implemented a balanced Random Forest classifier producing ON/OFF estimates for each parcel and the other a Random Forest regressor producing moisture level predictions. For both models, the sensor inputs are scaled and entered into both models resulting in two output .</a:t>
            </a:r>
            <a:r>
              <a:rPr lang="en-US" sz="1600" dirty="0" err="1"/>
              <a:t>pkl</a:t>
            </a:r>
            <a:r>
              <a:rPr lang="en-US" sz="1600" dirty="0"/>
              <a:t> files. A </a:t>
            </a:r>
            <a:r>
              <a:rPr lang="en-US" sz="1600" dirty="0" err="1"/>
              <a:t>Streamlit</a:t>
            </a:r>
            <a:r>
              <a:rPr lang="en-US" sz="1600" dirty="0"/>
              <a:t> app implements sliders for the live sensor values and shows the parcel statuses and moisture estimates in real-time. </a:t>
            </a:r>
            <a:endParaRPr lang="en-IN" sz="1600" dirty="0"/>
          </a:p>
        </p:txBody>
      </p:sp>
      <p:pic>
        <p:nvPicPr>
          <p:cNvPr id="5" name="Picture 4">
            <a:extLst>
              <a:ext uri="{FF2B5EF4-FFF2-40B4-BE49-F238E27FC236}">
                <a16:creationId xmlns:a16="http://schemas.microsoft.com/office/drawing/2014/main" id="{230C2164-B66C-E26F-19C0-1B2712D2F530}"/>
              </a:ext>
            </a:extLst>
          </p:cNvPr>
          <p:cNvPicPr>
            <a:picLocks noChangeAspect="1"/>
          </p:cNvPicPr>
          <p:nvPr/>
        </p:nvPicPr>
        <p:blipFill>
          <a:blip r:embed="rId2"/>
          <a:stretch>
            <a:fillRect/>
          </a:stretch>
        </p:blipFill>
        <p:spPr>
          <a:xfrm>
            <a:off x="6776056" y="1358292"/>
            <a:ext cx="5160840" cy="4141415"/>
          </a:xfrm>
          <a:prstGeom prst="rect">
            <a:avLst/>
          </a:prstGeom>
        </p:spPr>
      </p:pic>
      <p:sp>
        <p:nvSpPr>
          <p:cNvPr id="6" name="TextBox 5">
            <a:extLst>
              <a:ext uri="{FF2B5EF4-FFF2-40B4-BE49-F238E27FC236}">
                <a16:creationId xmlns:a16="http://schemas.microsoft.com/office/drawing/2014/main" id="{CA97D41A-CB2A-00C0-96BE-A5C5BC0CCC0B}"/>
              </a:ext>
            </a:extLst>
          </p:cNvPr>
          <p:cNvSpPr txBox="1"/>
          <p:nvPr/>
        </p:nvSpPr>
        <p:spPr>
          <a:xfrm>
            <a:off x="522515" y="5964076"/>
            <a:ext cx="6925294" cy="830997"/>
          </a:xfrm>
          <a:prstGeom prst="rect">
            <a:avLst/>
          </a:prstGeom>
          <a:noFill/>
        </p:spPr>
        <p:txBody>
          <a:bodyPr wrap="none" rtlCol="0">
            <a:spAutoFit/>
          </a:bodyPr>
          <a:lstStyle/>
          <a:p>
            <a:r>
              <a:rPr lang="en-IN" sz="1600" dirty="0" err="1"/>
              <a:t>Github</a:t>
            </a:r>
            <a:r>
              <a:rPr lang="en-IN" sz="1600" dirty="0"/>
              <a:t>: </a:t>
            </a:r>
            <a:r>
              <a:rPr lang="en-IN" sz="1600" dirty="0">
                <a:hlinkClick r:id="rId3"/>
              </a:rPr>
              <a:t>https://github.com/DesmondKarakara/AICTE_smart_irrigation_dev</a:t>
            </a:r>
            <a:endParaRPr lang="en-IN" sz="1600" dirty="0"/>
          </a:p>
          <a:p>
            <a:endParaRPr lang="en-IN" sz="1600" dirty="0"/>
          </a:p>
          <a:p>
            <a:endParaRPr lang="en-IN" sz="1600" dirty="0"/>
          </a:p>
        </p:txBody>
      </p:sp>
      <p:sp>
        <p:nvSpPr>
          <p:cNvPr id="9" name="TextBox 8">
            <a:extLst>
              <a:ext uri="{FF2B5EF4-FFF2-40B4-BE49-F238E27FC236}">
                <a16:creationId xmlns:a16="http://schemas.microsoft.com/office/drawing/2014/main" id="{85BDAE37-61C1-6DC6-D45B-643BD33116A7}"/>
              </a:ext>
            </a:extLst>
          </p:cNvPr>
          <p:cNvSpPr txBox="1"/>
          <p:nvPr/>
        </p:nvSpPr>
        <p:spPr>
          <a:xfrm>
            <a:off x="435462" y="3959012"/>
            <a:ext cx="2202847" cy="307777"/>
          </a:xfrm>
          <a:prstGeom prst="rect">
            <a:avLst/>
          </a:prstGeom>
          <a:noFill/>
        </p:spPr>
        <p:txBody>
          <a:bodyPr wrap="none" rtlCol="0">
            <a:spAutoFit/>
          </a:bodyPr>
          <a:lstStyle/>
          <a:p>
            <a:r>
              <a:rPr lang="en-IN" sz="1400" b="1" dirty="0"/>
              <a:t>Possible Imperfections:</a:t>
            </a:r>
          </a:p>
        </p:txBody>
      </p:sp>
      <p:graphicFrame>
        <p:nvGraphicFramePr>
          <p:cNvPr id="10" name="Table 9">
            <a:extLst>
              <a:ext uri="{FF2B5EF4-FFF2-40B4-BE49-F238E27FC236}">
                <a16:creationId xmlns:a16="http://schemas.microsoft.com/office/drawing/2014/main" id="{00355B2D-5C21-B8C1-B4B8-880EE16C22CD}"/>
              </a:ext>
            </a:extLst>
          </p:cNvPr>
          <p:cNvGraphicFramePr>
            <a:graphicFrameLocks noGrp="1"/>
          </p:cNvGraphicFramePr>
          <p:nvPr>
            <p:extLst>
              <p:ext uri="{D42A27DB-BD31-4B8C-83A1-F6EECF244321}">
                <p14:modId xmlns:p14="http://schemas.microsoft.com/office/powerpoint/2010/main" val="2690016194"/>
              </p:ext>
            </p:extLst>
          </p:nvPr>
        </p:nvGraphicFramePr>
        <p:xfrm>
          <a:off x="435462" y="4266789"/>
          <a:ext cx="6444276" cy="1463040"/>
        </p:xfrm>
        <a:graphic>
          <a:graphicData uri="http://schemas.openxmlformats.org/drawingml/2006/table">
            <a:tbl>
              <a:tblPr/>
              <a:tblGrid>
                <a:gridCol w="3222138">
                  <a:extLst>
                    <a:ext uri="{9D8B030D-6E8A-4147-A177-3AD203B41FA5}">
                      <a16:colId xmlns:a16="http://schemas.microsoft.com/office/drawing/2014/main" val="2675128532"/>
                    </a:ext>
                  </a:extLst>
                </a:gridCol>
                <a:gridCol w="3222138">
                  <a:extLst>
                    <a:ext uri="{9D8B030D-6E8A-4147-A177-3AD203B41FA5}">
                      <a16:colId xmlns:a16="http://schemas.microsoft.com/office/drawing/2014/main" val="171604941"/>
                    </a:ext>
                  </a:extLst>
                </a:gridCol>
              </a:tblGrid>
              <a:tr h="0">
                <a:tc>
                  <a:txBody>
                    <a:bodyPr/>
                    <a:lstStyle/>
                    <a:p>
                      <a:r>
                        <a:rPr lang="en-IN" sz="1200"/>
                        <a:t>Area</a:t>
                      </a:r>
                    </a:p>
                  </a:txBody>
                  <a:tcPr anchor="ctr">
                    <a:lnL>
                      <a:noFill/>
                    </a:lnL>
                    <a:lnR>
                      <a:noFill/>
                    </a:lnR>
                    <a:lnT>
                      <a:noFill/>
                    </a:lnT>
                    <a:lnB>
                      <a:noFill/>
                    </a:lnB>
                    <a:noFill/>
                  </a:tcPr>
                </a:tc>
                <a:tc>
                  <a:txBody>
                    <a:bodyPr/>
                    <a:lstStyle/>
                    <a:p>
                      <a:r>
                        <a:rPr lang="en-IN" sz="1200"/>
                        <a:t>What It Shows</a:t>
                      </a:r>
                    </a:p>
                  </a:txBody>
                  <a:tcPr anchor="ctr">
                    <a:lnL>
                      <a:noFill/>
                    </a:lnL>
                    <a:lnR>
                      <a:noFill/>
                    </a:lnR>
                    <a:lnT>
                      <a:noFill/>
                    </a:lnT>
                    <a:lnB>
                      <a:noFill/>
                    </a:lnB>
                    <a:noFill/>
                  </a:tcPr>
                </a:tc>
                <a:extLst>
                  <a:ext uri="{0D108BD9-81ED-4DB2-BD59-A6C34878D82A}">
                    <a16:rowId xmlns:a16="http://schemas.microsoft.com/office/drawing/2014/main" val="1110145467"/>
                  </a:ext>
                </a:extLst>
              </a:tr>
              <a:tr h="0">
                <a:tc>
                  <a:txBody>
                    <a:bodyPr/>
                    <a:lstStyle/>
                    <a:p>
                      <a:r>
                        <a:rPr lang="en-IN" sz="1200" dirty="0"/>
                        <a:t>Points above the line</a:t>
                      </a:r>
                    </a:p>
                  </a:txBody>
                  <a:tcPr anchor="ctr">
                    <a:lnL>
                      <a:noFill/>
                    </a:lnL>
                    <a:lnR>
                      <a:noFill/>
                    </a:lnR>
                    <a:lnT>
                      <a:noFill/>
                    </a:lnT>
                    <a:lnB>
                      <a:noFill/>
                    </a:lnB>
                    <a:noFill/>
                  </a:tcPr>
                </a:tc>
                <a:tc>
                  <a:txBody>
                    <a:bodyPr/>
                    <a:lstStyle/>
                    <a:p>
                      <a:r>
                        <a:rPr lang="en-US" sz="1200"/>
                        <a:t>Slight </a:t>
                      </a:r>
                      <a:r>
                        <a:rPr lang="en-US" sz="1200" b="1"/>
                        <a:t>overestimation</a:t>
                      </a:r>
                      <a:r>
                        <a:rPr lang="en-US" sz="1200"/>
                        <a:t> of moisture level</a:t>
                      </a:r>
                    </a:p>
                  </a:txBody>
                  <a:tcPr anchor="ctr">
                    <a:lnL>
                      <a:noFill/>
                    </a:lnL>
                    <a:lnR>
                      <a:noFill/>
                    </a:lnR>
                    <a:lnT>
                      <a:noFill/>
                    </a:lnT>
                    <a:lnB>
                      <a:noFill/>
                    </a:lnB>
                    <a:noFill/>
                  </a:tcPr>
                </a:tc>
                <a:extLst>
                  <a:ext uri="{0D108BD9-81ED-4DB2-BD59-A6C34878D82A}">
                    <a16:rowId xmlns:a16="http://schemas.microsoft.com/office/drawing/2014/main" val="712792675"/>
                  </a:ext>
                </a:extLst>
              </a:tr>
              <a:tr h="0">
                <a:tc>
                  <a:txBody>
                    <a:bodyPr/>
                    <a:lstStyle/>
                    <a:p>
                      <a:r>
                        <a:rPr lang="en-IN" sz="1200"/>
                        <a:t>Points below the line</a:t>
                      </a:r>
                    </a:p>
                  </a:txBody>
                  <a:tcPr anchor="ctr">
                    <a:lnL>
                      <a:noFill/>
                    </a:lnL>
                    <a:lnR>
                      <a:noFill/>
                    </a:lnR>
                    <a:lnT>
                      <a:noFill/>
                    </a:lnT>
                    <a:lnB>
                      <a:noFill/>
                    </a:lnB>
                    <a:noFill/>
                  </a:tcPr>
                </a:tc>
                <a:tc>
                  <a:txBody>
                    <a:bodyPr/>
                    <a:lstStyle/>
                    <a:p>
                      <a:r>
                        <a:rPr lang="en-IN" sz="1200"/>
                        <a:t>Slight </a:t>
                      </a:r>
                      <a:r>
                        <a:rPr lang="en-IN" sz="1200" b="1"/>
                        <a:t>underestimation</a:t>
                      </a:r>
                      <a:endParaRPr lang="en-IN" sz="1200"/>
                    </a:p>
                  </a:txBody>
                  <a:tcPr anchor="ctr">
                    <a:lnL>
                      <a:noFill/>
                    </a:lnL>
                    <a:lnR>
                      <a:noFill/>
                    </a:lnR>
                    <a:lnT>
                      <a:noFill/>
                    </a:lnT>
                    <a:lnB>
                      <a:noFill/>
                    </a:lnB>
                    <a:noFill/>
                  </a:tcPr>
                </a:tc>
                <a:extLst>
                  <a:ext uri="{0D108BD9-81ED-4DB2-BD59-A6C34878D82A}">
                    <a16:rowId xmlns:a16="http://schemas.microsoft.com/office/drawing/2014/main" val="1459058553"/>
                  </a:ext>
                </a:extLst>
              </a:tr>
              <a:tr h="0">
                <a:tc>
                  <a:txBody>
                    <a:bodyPr/>
                    <a:lstStyle/>
                    <a:p>
                      <a:r>
                        <a:rPr lang="en-US" sz="1200" dirty="0"/>
                        <a:t>More scatter at higher moisture levels</a:t>
                      </a:r>
                    </a:p>
                  </a:txBody>
                  <a:tcPr anchor="ctr">
                    <a:lnL>
                      <a:noFill/>
                    </a:lnL>
                    <a:lnR>
                      <a:noFill/>
                    </a:lnR>
                    <a:lnT>
                      <a:noFill/>
                    </a:lnT>
                    <a:lnB>
                      <a:noFill/>
                    </a:lnB>
                    <a:noFill/>
                  </a:tcPr>
                </a:tc>
                <a:tc>
                  <a:txBody>
                    <a:bodyPr/>
                    <a:lstStyle/>
                    <a:p>
                      <a:r>
                        <a:rPr lang="en-US" sz="1200" dirty="0"/>
                        <a:t>Might need better learning in high-moisture regions (could be due to fewer high-moisture training samples or saturation of sensors)</a:t>
                      </a:r>
                    </a:p>
                  </a:txBody>
                  <a:tcPr anchor="ctr">
                    <a:lnL>
                      <a:noFill/>
                    </a:lnL>
                    <a:lnR>
                      <a:noFill/>
                    </a:lnR>
                    <a:lnT>
                      <a:noFill/>
                    </a:lnT>
                    <a:lnB>
                      <a:noFill/>
                    </a:lnB>
                    <a:noFill/>
                  </a:tcPr>
                </a:tc>
                <a:extLst>
                  <a:ext uri="{0D108BD9-81ED-4DB2-BD59-A6C34878D82A}">
                    <a16:rowId xmlns:a16="http://schemas.microsoft.com/office/drawing/2014/main" val="3323738366"/>
                  </a:ext>
                </a:extLst>
              </a:tr>
            </a:tbl>
          </a:graphicData>
        </a:graphic>
      </p:graphicFrame>
    </p:spTree>
    <p:extLst>
      <p:ext uri="{BB962C8B-B14F-4D97-AF65-F5344CB8AC3E}">
        <p14:creationId xmlns:p14="http://schemas.microsoft.com/office/powerpoint/2010/main" val="300296886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361D872-7EC7-439F-A588-B1D90CB7A92F}"/>
              </a:ext>
            </a:extLst>
          </p:cNvPr>
          <p:cNvSpPr txBox="1"/>
          <p:nvPr/>
        </p:nvSpPr>
        <p:spPr>
          <a:xfrm>
            <a:off x="255104" y="1054412"/>
            <a:ext cx="6102626" cy="400110"/>
          </a:xfrm>
          <a:prstGeom prst="rect">
            <a:avLst/>
          </a:prstGeom>
          <a:noFill/>
        </p:spPr>
        <p:txBody>
          <a:bodyPr wrap="square">
            <a:spAutoFit/>
          </a:bodyPr>
          <a:lstStyle/>
          <a:p>
            <a:r>
              <a:rPr lang="en-US" sz="2000" b="1" dirty="0">
                <a:solidFill>
                  <a:srgbClr val="213163"/>
                </a:solidFill>
              </a:rPr>
              <a:t>Screenshot of Output:  </a:t>
            </a:r>
            <a:endParaRPr lang="en-IN" sz="2000" b="1" dirty="0">
              <a:solidFill>
                <a:srgbClr val="213163"/>
              </a:solidFill>
            </a:endParaRPr>
          </a:p>
        </p:txBody>
      </p:sp>
      <p:pic>
        <p:nvPicPr>
          <p:cNvPr id="4" name="Picture 3">
            <a:extLst>
              <a:ext uri="{FF2B5EF4-FFF2-40B4-BE49-F238E27FC236}">
                <a16:creationId xmlns:a16="http://schemas.microsoft.com/office/drawing/2014/main" id="{5A5E48C0-2929-399C-1EEE-14888237B348}"/>
              </a:ext>
            </a:extLst>
          </p:cNvPr>
          <p:cNvPicPr>
            <a:picLocks noChangeAspect="1"/>
          </p:cNvPicPr>
          <p:nvPr/>
        </p:nvPicPr>
        <p:blipFill>
          <a:blip r:embed="rId2"/>
          <a:stretch>
            <a:fillRect/>
          </a:stretch>
        </p:blipFill>
        <p:spPr>
          <a:xfrm>
            <a:off x="2164702" y="1811551"/>
            <a:ext cx="6636118" cy="4113388"/>
          </a:xfrm>
          <a:prstGeom prst="rect">
            <a:avLst/>
          </a:prstGeom>
        </p:spPr>
      </p:pic>
    </p:spTree>
    <p:extLst>
      <p:ext uri="{BB962C8B-B14F-4D97-AF65-F5344CB8AC3E}">
        <p14:creationId xmlns:p14="http://schemas.microsoft.com/office/powerpoint/2010/main" val="163594941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361D872-7EC7-439F-A588-B1D90CB7A92F}"/>
              </a:ext>
            </a:extLst>
          </p:cNvPr>
          <p:cNvSpPr txBox="1"/>
          <p:nvPr/>
        </p:nvSpPr>
        <p:spPr>
          <a:xfrm>
            <a:off x="149087" y="988151"/>
            <a:ext cx="6102626" cy="400110"/>
          </a:xfrm>
          <a:prstGeom prst="rect">
            <a:avLst/>
          </a:prstGeom>
          <a:noFill/>
        </p:spPr>
        <p:txBody>
          <a:bodyPr wrap="square">
            <a:spAutoFit/>
          </a:bodyPr>
          <a:lstStyle/>
          <a:p>
            <a:r>
              <a:rPr lang="en-US" sz="2000" b="1" dirty="0">
                <a:solidFill>
                  <a:srgbClr val="213163"/>
                </a:solidFill>
              </a:rPr>
              <a:t>Conclusion:</a:t>
            </a:r>
            <a:r>
              <a:rPr lang="en-US" sz="1800" b="1" dirty="0">
                <a:solidFill>
                  <a:srgbClr val="213163"/>
                </a:solidFill>
              </a:rPr>
              <a:t>  </a:t>
            </a:r>
            <a:endParaRPr lang="en-IN" sz="1800" dirty="0">
              <a:solidFill>
                <a:srgbClr val="213163"/>
              </a:solidFill>
            </a:endParaRPr>
          </a:p>
        </p:txBody>
      </p:sp>
      <p:sp>
        <p:nvSpPr>
          <p:cNvPr id="2" name="TextBox 1">
            <a:extLst>
              <a:ext uri="{FF2B5EF4-FFF2-40B4-BE49-F238E27FC236}">
                <a16:creationId xmlns:a16="http://schemas.microsoft.com/office/drawing/2014/main" id="{B9195341-9A0F-690B-8F7E-E1F790225243}"/>
              </a:ext>
            </a:extLst>
          </p:cNvPr>
          <p:cNvSpPr txBox="1"/>
          <p:nvPr/>
        </p:nvSpPr>
        <p:spPr>
          <a:xfrm>
            <a:off x="149087" y="1735493"/>
            <a:ext cx="7438636" cy="1569660"/>
          </a:xfrm>
          <a:prstGeom prst="rect">
            <a:avLst/>
          </a:prstGeom>
          <a:noFill/>
        </p:spPr>
        <p:txBody>
          <a:bodyPr wrap="square" rtlCol="0">
            <a:spAutoFit/>
          </a:bodyPr>
          <a:lstStyle/>
          <a:p>
            <a:pPr algn="just"/>
            <a:r>
              <a:rPr lang="en-US" sz="1600" b="1" dirty="0"/>
              <a:t>The enhanced system runs error-free, boosting minority-class recall (parcel_2 F1↑≈0.11) and adding moisture regression (MSE ≈0.049). By combining classification and regression in a single pipeline and exposing it through </a:t>
            </a:r>
            <a:r>
              <a:rPr lang="en-US" sz="1600" b="1" dirty="0" err="1"/>
              <a:t>Streamlit</a:t>
            </a:r>
            <a:r>
              <a:rPr lang="en-US" sz="1600" b="1" dirty="0"/>
              <a:t>, farm managers gain precise, data-driven irrigation guidance—reducing water waste and optimizing crop health, with room for further tuning once real moisture data is available.</a:t>
            </a:r>
            <a:endParaRPr lang="en-IN" sz="1600" b="1" dirty="0"/>
          </a:p>
        </p:txBody>
      </p:sp>
      <p:sp>
        <p:nvSpPr>
          <p:cNvPr id="4" name="TextBox 3">
            <a:extLst>
              <a:ext uri="{FF2B5EF4-FFF2-40B4-BE49-F238E27FC236}">
                <a16:creationId xmlns:a16="http://schemas.microsoft.com/office/drawing/2014/main" id="{421D4A2D-67D6-EAC7-6B96-C936E498A9EA}"/>
              </a:ext>
            </a:extLst>
          </p:cNvPr>
          <p:cNvSpPr txBox="1"/>
          <p:nvPr/>
        </p:nvSpPr>
        <p:spPr>
          <a:xfrm>
            <a:off x="214403" y="3492198"/>
            <a:ext cx="10693084" cy="2000548"/>
          </a:xfrm>
          <a:prstGeom prst="rect">
            <a:avLst/>
          </a:prstGeom>
          <a:noFill/>
        </p:spPr>
        <p:txBody>
          <a:bodyPr wrap="square" rtlCol="0">
            <a:spAutoFit/>
          </a:bodyPr>
          <a:lstStyle/>
          <a:p>
            <a:r>
              <a:rPr lang="en-US" sz="1400" b="1" dirty="0"/>
              <a:t>What Could Be Improved</a:t>
            </a:r>
            <a:br>
              <a:rPr lang="en-US" sz="1400" b="1" dirty="0"/>
            </a:br>
            <a:endParaRPr lang="en-US" sz="1400" b="1" dirty="0"/>
          </a:p>
          <a:p>
            <a:pPr marL="171450" indent="-171450">
              <a:buFont typeface="Courier New" panose="02070309020205020404" pitchFamily="49" charset="0"/>
              <a:buChar char="o"/>
            </a:pPr>
            <a:r>
              <a:rPr lang="en-US" sz="1200" dirty="0"/>
              <a:t>Slight deviation means </a:t>
            </a:r>
            <a:r>
              <a:rPr lang="en-US" sz="1200" b="1" dirty="0"/>
              <a:t>some noise or variance</a:t>
            </a:r>
            <a:r>
              <a:rPr lang="en-US" sz="1200" dirty="0"/>
              <a:t> isn’t fully captured. This could be:</a:t>
            </a:r>
          </a:p>
          <a:p>
            <a:pPr marL="171450" lvl="1" indent="-171450">
              <a:buFont typeface="Courier New" panose="02070309020205020404" pitchFamily="49" charset="0"/>
              <a:buChar char="o"/>
            </a:pPr>
            <a:r>
              <a:rPr lang="en-US" sz="1200" dirty="0"/>
              <a:t>Due to model bias (underfitting slightly)</a:t>
            </a:r>
          </a:p>
          <a:p>
            <a:pPr marL="171450" lvl="1" indent="-171450">
              <a:buFont typeface="Courier New" panose="02070309020205020404" pitchFamily="49" charset="0"/>
              <a:buChar char="o"/>
            </a:pPr>
            <a:r>
              <a:rPr lang="en-US" sz="1200" dirty="0"/>
              <a:t>Noise in the input sensor data</a:t>
            </a:r>
          </a:p>
          <a:p>
            <a:pPr marL="171450" lvl="1" indent="-171450">
              <a:buFont typeface="Courier New" panose="02070309020205020404" pitchFamily="49" charset="0"/>
              <a:buChar char="o"/>
            </a:pPr>
            <a:r>
              <a:rPr lang="en-US" sz="1200" dirty="0"/>
              <a:t>Limited training data diversity</a:t>
            </a:r>
          </a:p>
          <a:p>
            <a:r>
              <a:rPr lang="en-US" sz="1200" b="1" dirty="0"/>
              <a:t>Lack of sharp corners or nonlinearity</a:t>
            </a:r>
            <a:r>
              <a:rPr lang="en-US" sz="1200" dirty="0"/>
              <a:t>:</a:t>
            </a:r>
            <a:br>
              <a:rPr lang="en-US" sz="1200" dirty="0"/>
            </a:br>
            <a:r>
              <a:rPr lang="en-US" sz="1200" dirty="0"/>
              <a:t>If moisture depends on thresholds or nonlinear rules (e.g., soil absorbs differently beyond certain points), a non-linear model like Gradient Boosting or a Neural Net might outperform.</a:t>
            </a:r>
          </a:p>
          <a:p>
            <a:endParaRPr lang="en-IN" sz="1200" dirty="0"/>
          </a:p>
        </p:txBody>
      </p:sp>
    </p:spTree>
    <p:extLst>
      <p:ext uri="{BB962C8B-B14F-4D97-AF65-F5344CB8AC3E}">
        <p14:creationId xmlns:p14="http://schemas.microsoft.com/office/powerpoint/2010/main" val="151988358"/>
      </p:ext>
    </p:extLst>
  </p:cSld>
  <p:clrMapOvr>
    <a:masterClrMapping/>
  </p:clrMapOvr>
</p:sld>
</file>

<file path=ppt/theme/theme1.xml><?xml version="1.0" encoding="utf-8"?>
<a:theme xmlns:a="http://schemas.openxmlformats.org/drawingml/2006/main" name="Session 01 Design Thinking &amp; Critical Thinking">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Session 01 Design Thinking &amp; Critical Thinking" id="{1DE73F69-F87A-4ED3-81C1-82D2BA622E0C}" vid="{37568650-F724-47C7-905E-9640F8017497}"/>
    </a:ext>
  </a:extLst>
</a:theme>
</file>

<file path=docProps/app.xml><?xml version="1.0" encoding="utf-8"?>
<Properties xmlns="http://schemas.openxmlformats.org/officeDocument/2006/extended-properties" xmlns:vt="http://schemas.openxmlformats.org/officeDocument/2006/docPropsVTypes">
  <Template>Session 01 Design Thinking &amp; Critical Thinking</Template>
  <TotalTime>548</TotalTime>
  <Words>862</Words>
  <Application>Microsoft Office PowerPoint</Application>
  <PresentationFormat>Widescreen</PresentationFormat>
  <Paragraphs>50</Paragraphs>
  <Slides>8</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8</vt:i4>
      </vt:variant>
    </vt:vector>
  </HeadingPairs>
  <TitlesOfParts>
    <vt:vector size="12" baseType="lpstr">
      <vt:lpstr>Arial</vt:lpstr>
      <vt:lpstr>Courier New</vt:lpstr>
      <vt:lpstr>Wingdings</vt:lpstr>
      <vt:lpstr>Session 01 Design Thinking &amp; Critical Thinking</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Mahesh Kurhe</dc:creator>
  <cp:lastModifiedBy>Devdipro Bhaduri</cp:lastModifiedBy>
  <cp:revision>7</cp:revision>
  <dcterms:created xsi:type="dcterms:W3CDTF">2024-12-31T09:40:01Z</dcterms:created>
  <dcterms:modified xsi:type="dcterms:W3CDTF">2025-08-04T14:30:39Z</dcterms:modified>
</cp:coreProperties>
</file>