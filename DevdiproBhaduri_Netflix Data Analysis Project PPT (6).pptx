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7"/>
  </p:notesMasterIdLst>
  <p:handoutMasterIdLst>
    <p:handoutMasterId r:id="rId18"/>
  </p:handoutMasterIdLst>
  <p:sldIdLst>
    <p:sldId id="338" r:id="rId5"/>
    <p:sldId id="327" r:id="rId6"/>
    <p:sldId id="315" r:id="rId7"/>
    <p:sldId id="329" r:id="rId8"/>
    <p:sldId id="302" r:id="rId9"/>
    <p:sldId id="339" r:id="rId10"/>
    <p:sldId id="340" r:id="rId11"/>
    <p:sldId id="341" r:id="rId12"/>
    <p:sldId id="344" r:id="rId13"/>
    <p:sldId id="342" r:id="rId14"/>
    <p:sldId id="343" r:id="rId15"/>
    <p:sldId id="304"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10/8/2025</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10/8/2025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10/8/2025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10/8/2025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10/8/2025</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10/8/2025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10/8/2025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10/8/2025</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DesmondKarakara/VOIS_AICTE_Oct2025_DevdiproBhaduri_MajorProject"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3984171" y="3853543"/>
            <a:ext cx="5728790" cy="1149953"/>
          </a:xfrm>
        </p:spPr>
        <p:txBody>
          <a:bodyPr>
            <a:noAutofit/>
          </a:bodyPr>
          <a:lstStyle/>
          <a:p>
            <a:pPr algn="r"/>
            <a:r>
              <a:rPr lang="en-IN" sz="2400" dirty="0">
                <a:solidFill>
                  <a:schemeClr val="tx1">
                    <a:lumMod val="95000"/>
                    <a:lumOff val="5000"/>
                  </a:schemeClr>
                </a:solidFill>
                <a:latin typeface="Times New Roman" panose="02020603050405020304" pitchFamily="18" charset="0"/>
                <a:cs typeface="Times New Roman" panose="02020603050405020304" pitchFamily="18" charset="0"/>
              </a:rPr>
              <a:t>Devdipro Bhaduri</a:t>
            </a:r>
          </a:p>
          <a:p>
            <a:pPr algn="r"/>
            <a:r>
              <a:rPr lang="en-IN" sz="2400" dirty="0">
                <a:solidFill>
                  <a:schemeClr val="tx1">
                    <a:lumMod val="95000"/>
                    <a:lumOff val="5000"/>
                  </a:schemeClr>
                </a:solidFill>
                <a:latin typeface="Times New Roman" panose="02020603050405020304" pitchFamily="18" charset="0"/>
                <a:cs typeface="Times New Roman" panose="02020603050405020304" pitchFamily="18" charset="0"/>
              </a:rPr>
              <a:t>INTERNSHIP_17546440516895be537820f </a:t>
            </a:r>
          </a:p>
          <a:p>
            <a:pPr algn="r"/>
            <a:r>
              <a:rPr lang="en-IN" sz="2400" dirty="0">
                <a:solidFill>
                  <a:schemeClr val="tx1">
                    <a:lumMod val="95000"/>
                    <a:lumOff val="5000"/>
                  </a:schemeClr>
                </a:solidFill>
                <a:latin typeface="Times New Roman" panose="02020603050405020304" pitchFamily="18" charset="0"/>
                <a:cs typeface="Times New Roman" panose="02020603050405020304" pitchFamily="18" charset="0"/>
              </a:rPr>
              <a:t>APPLY_175593885768a98029dbfc9</a:t>
            </a:r>
            <a:endParaRPr lang="en-IN" sz="2400" b="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5631736" y="2153190"/>
            <a:ext cx="4998720" cy="743448"/>
          </a:xfrm>
        </p:spPr>
        <p:txBody>
          <a:bodyPr>
            <a:normAutofit/>
          </a:bodyPr>
          <a:lstStyle/>
          <a:p>
            <a:r>
              <a:rPr lang="en-GB" sz="3200" b="1" dirty="0">
                <a:latin typeface="Times New Roman" panose="02020603050405020304" pitchFamily="18" charset="0"/>
                <a:cs typeface="Times New Roman" panose="02020603050405020304" pitchFamily="18" charset="0"/>
              </a:rPr>
              <a:t>Netflix Data Analysis</a:t>
            </a:r>
            <a:endParaRPr lang="en-IN" sz="3200" b="1" dirty="0">
              <a:latin typeface="Times New Roman" panose="02020603050405020304" pitchFamily="18" charset="0"/>
              <a:cs typeface="Times New Roman" panose="02020603050405020304" pitchFamily="18" charset="0"/>
            </a:endParaRP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2">
                                            <p:txEl>
                                              <p:pRg st="2" end="2"/>
                                            </p:txEl>
                                          </p:spTgt>
                                        </p:tgtEl>
                                        <p:attrNameLst>
                                          <p:attrName>style.visibility</p:attrName>
                                        </p:attrNameLst>
                                      </p:cBhvr>
                                      <p:to>
                                        <p:strVal val="visible"/>
                                      </p:to>
                                    </p:set>
                                    <p:animEffect transition="in" filter="randombar(horizontal)">
                                      <p:cBhvr>
                                        <p:cTn id="42"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745271" y="790111"/>
            <a:ext cx="11145520" cy="3607987"/>
          </a:xfrm>
        </p:spPr>
        <p:txBody>
          <a:bodyPr>
            <a:noAutofit/>
          </a:bodyPr>
          <a:lstStyle/>
          <a:p>
            <a:pPr>
              <a:lnSpc>
                <a:spcPct val="150000"/>
              </a:lnSpc>
            </a:pPr>
            <a:r>
              <a:rPr lang="en-US" sz="1200" dirty="0">
                <a:latin typeface="Times New Roman" panose="02020603050405020304" pitchFamily="18" charset="0"/>
                <a:cs typeface="Times New Roman" panose="02020603050405020304" pitchFamily="18" charset="0"/>
              </a:rPr>
              <a:t>Major Project Proposal: Netflix Dataset Analysis</a:t>
            </a:r>
          </a:p>
          <a:p>
            <a:pPr>
              <a:lnSpc>
                <a:spcPct val="150000"/>
              </a:lnSpc>
            </a:pPr>
            <a:r>
              <a:rPr lang="en-US" sz="1200" dirty="0">
                <a:latin typeface="Times New Roman" panose="02020603050405020304" pitchFamily="18" charset="0"/>
                <a:cs typeface="Times New Roman" panose="02020603050405020304" pitchFamily="18" charset="0"/>
              </a:rPr>
              <a:t>1. Introduction to Dataset The dataset under consideration is a Netflix dataset containing 7,789 records and 11 columns. It includes important details about Movies and TV Shows available on the platform. Key attributes include the title, director, cast, country of origin, release date, rating, duration, and type (genres). The dataset spans multiple years, with entries ranging from 2008 to 2021, covering content across diverse countries and genres. </a:t>
            </a:r>
          </a:p>
          <a:p>
            <a:pPr>
              <a:lnSpc>
                <a:spcPct val="150000"/>
              </a:lnSpc>
            </a:pPr>
            <a:r>
              <a:rPr lang="en-US" sz="1200" dirty="0">
                <a:latin typeface="Times New Roman" panose="02020603050405020304" pitchFamily="18" charset="0"/>
                <a:cs typeface="Times New Roman" panose="02020603050405020304" pitchFamily="18" charset="0"/>
              </a:rPr>
              <a:t>2. Problem Statement Netflix has become one of the most prominent global streaming platforms, continuously expanding its library with a mix of original productions and licensed content. However, with growing competition from platforms like Amazon Prime, Disney+, and regional OTT providers, Netflix must strategically analyze its content catalog to identify strengths, gaps, and opportunities. The specific problem to be addressed in this project is 'Content Trends Analysis for Strategic Recommendations'. The aim is to uncover how Netflix’s content distribution (Movies vs. TV Shows, genres, and country contributions) has evolved over the years. This will enable the identification of key genres, audience preferences, and strategic insights into global content expansion. </a:t>
            </a:r>
          </a:p>
          <a:p>
            <a:pPr>
              <a:lnSpc>
                <a:spcPct val="150000"/>
              </a:lnSpc>
            </a:pPr>
            <a:r>
              <a:rPr lang="en-US" sz="1200" dirty="0">
                <a:latin typeface="Times New Roman" panose="02020603050405020304" pitchFamily="18" charset="0"/>
                <a:cs typeface="Times New Roman" panose="02020603050405020304" pitchFamily="18" charset="0"/>
              </a:rPr>
              <a:t>3. Importance of the Problem Statement Understanding Netflix’s content trends is crucial for making data-driven business decisions. The analysis not only highlights the balance between Movies and TV Shows but also reveals popular genres and underrepresented categories. For a platform that serves diverse international audiences, country-wise contributions provide valuable insights into global representation and market penetration. By focusing on these content trends, Netflix can refine its strategy for content acquisition and production, ensuring that it caters to the right audience segments while staying competitive in the global OTT industry. </a:t>
            </a:r>
          </a:p>
          <a:p>
            <a:pPr>
              <a:lnSpc>
                <a:spcPct val="150000"/>
              </a:lnSpc>
            </a:pPr>
            <a:r>
              <a:rPr lang="en-US" sz="1200" dirty="0">
                <a:latin typeface="Times New Roman" panose="02020603050405020304" pitchFamily="18" charset="0"/>
                <a:cs typeface="Times New Roman" panose="02020603050405020304" pitchFamily="18" charset="0"/>
              </a:rPr>
              <a:t>4. Objectives - Analyze the distribution of Movies vs. TV Shows over the years. - Identify the most common genres and how their popularity has changed. - Compare country-wise contributions to Netflix’s catalog. </a:t>
            </a:r>
          </a:p>
          <a:p>
            <a:pPr>
              <a:lnSpc>
                <a:spcPct val="150000"/>
              </a:lnSpc>
            </a:pPr>
            <a:r>
              <a:rPr lang="en-US" sz="1200" dirty="0">
                <a:latin typeface="Times New Roman" panose="02020603050405020304" pitchFamily="18" charset="0"/>
                <a:cs typeface="Times New Roman" panose="02020603050405020304" pitchFamily="18" charset="0"/>
              </a:rPr>
              <a:t>5. Expected Outcomes - - A clear understanding of how Netflix’s content strategy has evolved. Identification of top-performing genres and categories. - Strategic recommendations on which content types Netflix should focus on in the future. </a:t>
            </a:r>
            <a:endParaRPr lang="en-IN" sz="1200" dirty="0">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45271" y="0"/>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10510412" y="5188209"/>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75957" y="320022"/>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itle 2">
            <a:extLst>
              <a:ext uri="{FF2B5EF4-FFF2-40B4-BE49-F238E27FC236}">
                <a16:creationId xmlns:a16="http://schemas.microsoft.com/office/drawing/2014/main" id="{8104E756-2D9F-F422-690B-1CF71B7A1499}"/>
              </a:ext>
            </a:extLst>
          </p:cNvPr>
          <p:cNvSpPr txBox="1">
            <a:spLocks/>
          </p:cNvSpPr>
          <p:nvPr/>
        </p:nvSpPr>
        <p:spPr>
          <a:xfrm>
            <a:off x="675957" y="1212478"/>
            <a:ext cx="6276109" cy="830997"/>
          </a:xfrm>
          <a:prstGeom prst="rect">
            <a:avLst/>
          </a:prstGeom>
        </p:spPr>
        <p:txBody>
          <a:bodyPr vert="horz" lIns="91440" tIns="45720" rIns="91440" bIns="45720" rtlCol="0" anchor="t">
            <a:no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400" dirty="0">
                <a:latin typeface="Times New Roman" panose="02020603050405020304" pitchFamily="18" charset="0"/>
                <a:cs typeface="Times New Roman" panose="02020603050405020304" pitchFamily="18" charset="0"/>
              </a:rPr>
              <a:t>Description: </a:t>
            </a:r>
          </a:p>
          <a:p>
            <a:r>
              <a:rPr lang="en-US" sz="1400" dirty="0">
                <a:latin typeface="Times New Roman" panose="02020603050405020304" pitchFamily="18" charset="0"/>
                <a:cs typeface="Times New Roman" panose="02020603050405020304" pitchFamily="18" charset="0"/>
              </a:rPr>
              <a:t>This research is an extensive examination of the Netflix library consisting of 7,789 movies and television shows from different times and countries. </a:t>
            </a:r>
          </a:p>
          <a:p>
            <a:r>
              <a:rPr lang="en-US" sz="1400" dirty="0">
                <a:latin typeface="Times New Roman" panose="02020603050405020304" pitchFamily="18" charset="0"/>
                <a:cs typeface="Times New Roman" panose="02020603050405020304" pitchFamily="18" charset="0"/>
              </a:rPr>
              <a:t>The examination reveals distribution of content type (i.e., movies vs television), aggregate genre usage, and contribution by country, and provides general recommendations related to content creation, licensing, and engaging audiences. </a:t>
            </a:r>
          </a:p>
          <a:p>
            <a:endParaRPr lang="en-US" sz="1400" dirty="0">
              <a:latin typeface="Times New Roman" panose="02020603050405020304" pitchFamily="18" charset="0"/>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Key Objectives: </a:t>
            </a:r>
          </a:p>
          <a:p>
            <a:r>
              <a:rPr lang="en-US" sz="1400" dirty="0">
                <a:latin typeface="Times New Roman" panose="02020603050405020304" pitchFamily="18" charset="0"/>
                <a:cs typeface="Times New Roman" panose="02020603050405020304" pitchFamily="18" charset="0"/>
              </a:rPr>
              <a:t>To understand longitudinal comparisons of movies and TV shows.</a:t>
            </a:r>
          </a:p>
          <a:p>
            <a:r>
              <a:rPr lang="en-US" sz="1400" dirty="0">
                <a:latin typeface="Times New Roman" panose="02020603050405020304" pitchFamily="18" charset="0"/>
                <a:cs typeface="Times New Roman" panose="02020603050405020304" pitchFamily="18" charset="0"/>
              </a:rPr>
              <a:t>To examine which genres are key genres and how genres change over time.</a:t>
            </a:r>
          </a:p>
          <a:p>
            <a:r>
              <a:rPr lang="en-US" sz="1400" dirty="0">
                <a:latin typeface="Times New Roman" panose="02020603050405020304" pitchFamily="18" charset="0"/>
                <a:cs typeface="Times New Roman" panose="02020603050405020304" pitchFamily="18" charset="0"/>
              </a:rPr>
              <a:t>To examine the number of movies and television show that represent Netflix's global catalog by country.</a:t>
            </a:r>
          </a:p>
          <a:p>
            <a:r>
              <a:rPr lang="en-US" sz="1400" dirty="0">
                <a:latin typeface="Times New Roman" panose="02020603050405020304" pitchFamily="18" charset="0"/>
                <a:cs typeface="Times New Roman" panose="02020603050405020304" pitchFamily="18" charset="0"/>
              </a:rPr>
              <a:t>To provide fact-based information for decision-making regarding streaming video content.</a:t>
            </a:r>
          </a:p>
          <a:p>
            <a:endParaRPr lang="en-US" sz="1400" dirty="0">
              <a:latin typeface="Times New Roman" panose="02020603050405020304" pitchFamily="18" charset="0"/>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Next Steps: </a:t>
            </a:r>
          </a:p>
          <a:p>
            <a:r>
              <a:rPr lang="en-US" sz="1400" dirty="0">
                <a:latin typeface="Times New Roman" panose="02020603050405020304" pitchFamily="18" charset="0"/>
                <a:cs typeface="Times New Roman" panose="02020603050405020304" pitchFamily="18" charset="0"/>
              </a:rPr>
              <a:t>Creating a detailed business intelligence report that summaries trends in Netflix's content, attributes, and strategic recommendations for enhancing </a:t>
            </a:r>
            <a:r>
              <a:rPr lang="en-US" sz="1400" dirty="0" err="1">
                <a:latin typeface="Times New Roman" panose="02020603050405020304" pitchFamily="18" charset="0"/>
                <a:cs typeface="Times New Roman" panose="02020603050405020304" pitchFamily="18" charset="0"/>
              </a:rPr>
              <a:t>contests's</a:t>
            </a:r>
            <a:r>
              <a:rPr lang="en-US" sz="1400" dirty="0">
                <a:latin typeface="Times New Roman" panose="02020603050405020304" pitchFamily="18" charset="0"/>
                <a:cs typeface="Times New Roman" panose="02020603050405020304" pitchFamily="18" charset="0"/>
              </a:rPr>
              <a:t> competitive advantages.</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p:cTn id="14" dur="500" fill="hold"/>
                                        <p:tgtEl>
                                          <p:spTgt spid="2"/>
                                        </p:tgtEl>
                                        <p:attrNameLst>
                                          <p:attrName>ppt_w</p:attrName>
                                        </p:attrNameLst>
                                      </p:cBhvr>
                                      <p:tavLst>
                                        <p:tav tm="0">
                                          <p:val>
                                            <p:fltVal val="0"/>
                                          </p:val>
                                        </p:tav>
                                        <p:tav tm="100000">
                                          <p:val>
                                            <p:strVal val="#ppt_w"/>
                                          </p:val>
                                        </p:tav>
                                      </p:tavLst>
                                    </p:anim>
                                    <p:anim calcmode="lin" valueType="num">
                                      <p:cBhvr>
                                        <p:cTn id="15" dur="500" fill="hold"/>
                                        <p:tgtEl>
                                          <p:spTgt spid="2"/>
                                        </p:tgtEl>
                                        <p:attrNameLst>
                                          <p:attrName>ppt_h</p:attrName>
                                        </p:attrNameLst>
                                      </p:cBhvr>
                                      <p:tavLst>
                                        <p:tav tm="0">
                                          <p:val>
                                            <p:fltVal val="0"/>
                                          </p:val>
                                        </p:tav>
                                        <p:tav tm="100000">
                                          <p:val>
                                            <p:strVal val="#ppt_h"/>
                                          </p:val>
                                        </p:tav>
                                      </p:tavLst>
                                    </p:anim>
                                    <p:animEffect transition="in" filter="fade">
                                      <p:cBhvr>
                                        <p:cTn id="1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338217"/>
            <a:ext cx="7904481" cy="3990023"/>
          </a:xfrm>
        </p:spPr>
        <p:txBody>
          <a:bodyPr>
            <a:normAutofit fontScale="47500" lnSpcReduction="20000"/>
          </a:bodyPr>
          <a:lstStyle/>
          <a:p>
            <a:r>
              <a:rPr lang="en-IN" sz="3600" b="1" dirty="0">
                <a:latin typeface="Times New Roman" panose="02020603050405020304" pitchFamily="18" charset="0"/>
                <a:cs typeface="Times New Roman" panose="02020603050405020304" pitchFamily="18" charset="0"/>
              </a:rPr>
              <a:t>Primary End Users -</a:t>
            </a:r>
            <a:endParaRPr lang="en-IN" sz="3600" dirty="0">
              <a:latin typeface="Times New Roman" panose="02020603050405020304" pitchFamily="18" charset="0"/>
              <a:cs typeface="Times New Roman" panose="02020603050405020304" pitchFamily="18" charset="0"/>
            </a:endParaRPr>
          </a:p>
          <a:p>
            <a:r>
              <a:rPr lang="en-IN" sz="3600" b="1" dirty="0">
                <a:latin typeface="Times New Roman" panose="02020603050405020304" pitchFamily="18" charset="0"/>
                <a:cs typeface="Times New Roman" panose="02020603050405020304" pitchFamily="18" charset="0"/>
              </a:rPr>
              <a:t>Netflix Content Strategy Team</a:t>
            </a:r>
            <a:r>
              <a:rPr lang="en-IN" sz="3600" dirty="0">
                <a:latin typeface="Times New Roman" panose="02020603050405020304" pitchFamily="18" charset="0"/>
                <a:cs typeface="Times New Roman" panose="02020603050405020304" pitchFamily="18" charset="0"/>
              </a:rPr>
              <a:t> – Identify underrepresented genres and plan future acquisitions.</a:t>
            </a:r>
          </a:p>
          <a:p>
            <a:r>
              <a:rPr lang="en-IN" sz="3600" b="1" dirty="0">
                <a:latin typeface="Times New Roman" panose="02020603050405020304" pitchFamily="18" charset="0"/>
                <a:cs typeface="Times New Roman" panose="02020603050405020304" pitchFamily="18" charset="0"/>
              </a:rPr>
              <a:t>Business Intelligence &amp; Analytics Division</a:t>
            </a:r>
            <a:r>
              <a:rPr lang="en-IN" sz="3600" dirty="0">
                <a:latin typeface="Times New Roman" panose="02020603050405020304" pitchFamily="18" charset="0"/>
                <a:cs typeface="Times New Roman" panose="02020603050405020304" pitchFamily="18" charset="0"/>
              </a:rPr>
              <a:t> – Automate trend reports and build predictive dashboards.</a:t>
            </a:r>
          </a:p>
          <a:p>
            <a:r>
              <a:rPr lang="en-IN" sz="3600" b="1" dirty="0">
                <a:latin typeface="Times New Roman" panose="02020603050405020304" pitchFamily="18" charset="0"/>
                <a:cs typeface="Times New Roman" panose="02020603050405020304" pitchFamily="18" charset="0"/>
              </a:rPr>
              <a:t>Regional Marketing Teams</a:t>
            </a:r>
            <a:r>
              <a:rPr lang="en-IN" sz="3600" dirty="0">
                <a:latin typeface="Times New Roman" panose="02020603050405020304" pitchFamily="18" charset="0"/>
                <a:cs typeface="Times New Roman" panose="02020603050405020304" pitchFamily="18" charset="0"/>
              </a:rPr>
              <a:t> – Target audiences based on regional content performance.</a:t>
            </a:r>
          </a:p>
          <a:p>
            <a:r>
              <a:rPr lang="en-IN" sz="3600" b="1" dirty="0">
                <a:latin typeface="Times New Roman" panose="02020603050405020304" pitchFamily="18" charset="0"/>
                <a:cs typeface="Times New Roman" panose="02020603050405020304" pitchFamily="18" charset="0"/>
              </a:rPr>
              <a:t>Product &amp; Recommendation System Engineers</a:t>
            </a:r>
            <a:r>
              <a:rPr lang="en-IN" sz="3600" dirty="0">
                <a:latin typeface="Times New Roman" panose="02020603050405020304" pitchFamily="18" charset="0"/>
                <a:cs typeface="Times New Roman" panose="02020603050405020304" pitchFamily="18" charset="0"/>
              </a:rPr>
              <a:t> – Use enriched metadata to improve recommendation accuracy.</a:t>
            </a:r>
          </a:p>
          <a:p>
            <a:r>
              <a:rPr lang="en-IN" sz="3600" b="1" dirty="0">
                <a:latin typeface="Times New Roman" panose="02020603050405020304" pitchFamily="18" charset="0"/>
                <a:cs typeface="Times New Roman" panose="02020603050405020304" pitchFamily="18" charset="0"/>
              </a:rPr>
              <a:t>Executive Leadership &amp; Investors</a:t>
            </a:r>
            <a:r>
              <a:rPr lang="en-IN" sz="3600" dirty="0">
                <a:latin typeface="Times New Roman" panose="02020603050405020304" pitchFamily="18" charset="0"/>
                <a:cs typeface="Times New Roman" panose="02020603050405020304" pitchFamily="18" charset="0"/>
              </a:rPr>
              <a:t> – Access summarized dashboards for strategic decision-making.</a:t>
            </a:r>
          </a:p>
          <a:p>
            <a:r>
              <a:rPr lang="en-IN" sz="3600" b="1" dirty="0">
                <a:latin typeface="Times New Roman" panose="02020603050405020304" pitchFamily="18" charset="0"/>
                <a:cs typeface="Times New Roman" panose="02020603050405020304" pitchFamily="18" charset="0"/>
              </a:rPr>
              <a:t>Impact:</a:t>
            </a:r>
            <a:br>
              <a:rPr lang="en-IN" sz="3600" dirty="0">
                <a:latin typeface="Times New Roman" panose="02020603050405020304" pitchFamily="18" charset="0"/>
                <a:cs typeface="Times New Roman" panose="02020603050405020304" pitchFamily="18" charset="0"/>
              </a:rPr>
            </a:br>
            <a:r>
              <a:rPr lang="en-IN" sz="3600" dirty="0">
                <a:latin typeface="Times New Roman" panose="02020603050405020304" pitchFamily="18" charset="0"/>
                <a:cs typeface="Times New Roman" panose="02020603050405020304" pitchFamily="18" charset="0"/>
              </a:rPr>
              <a:t>Empowers Netflix to make </a:t>
            </a:r>
            <a:r>
              <a:rPr lang="en-IN" sz="3600" b="1" dirty="0">
                <a:latin typeface="Times New Roman" panose="02020603050405020304" pitchFamily="18" charset="0"/>
                <a:cs typeface="Times New Roman" panose="02020603050405020304" pitchFamily="18" charset="0"/>
              </a:rPr>
              <a:t>data-driven strategic decisions</a:t>
            </a:r>
            <a:r>
              <a:rPr lang="en-IN" sz="3600" dirty="0">
                <a:latin typeface="Times New Roman" panose="02020603050405020304" pitchFamily="18" charset="0"/>
                <a:cs typeface="Times New Roman" panose="02020603050405020304" pitchFamily="18" charset="0"/>
              </a:rPr>
              <a:t> on content acquisition, diversification, and production investments.</a:t>
            </a:r>
          </a:p>
          <a:p>
            <a:pPr algn="just">
              <a:lnSpc>
                <a:spcPct val="150000"/>
              </a:lnSpc>
            </a:pPr>
            <a:endParaRPr lang="en-IN" sz="3600" dirty="0">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721359" y="195421"/>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6" end="6"/>
                                            </p:txEl>
                                          </p:spTgt>
                                        </p:tgtEl>
                                        <p:attrNameLst>
                                          <p:attrName>style.visibility</p:attrName>
                                        </p:attrNameLst>
                                      </p:cBhvr>
                                      <p:to>
                                        <p:strVal val="visible"/>
                                      </p:to>
                                    </p:set>
                                    <p:animEffect transition="in" filter="fade">
                                      <p:cBhvr>
                                        <p:cTn id="56" dur="1000"/>
                                        <p:tgtEl>
                                          <p:spTgt spid="2">
                                            <p:txEl>
                                              <p:pRg st="6" end="6"/>
                                            </p:txEl>
                                          </p:spTgt>
                                        </p:tgtEl>
                                      </p:cBhvr>
                                    </p:animEffect>
                                    <p:anim calcmode="lin" valueType="num">
                                      <p:cBhvr>
                                        <p:cTn id="5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1005632" y="62138"/>
            <a:ext cx="5306291" cy="847817"/>
          </a:xfrm>
        </p:spPr>
        <p:txBody>
          <a:bodyPr>
            <a:normAutofit/>
          </a:bodyPr>
          <a:lstStyle/>
          <a:p>
            <a:r>
              <a:rPr lang="en-US" dirty="0"/>
              <a:t>Technology Used</a:t>
            </a:r>
          </a:p>
        </p:txBody>
      </p:sp>
      <p:sp>
        <p:nvSpPr>
          <p:cNvPr id="3" name="Rectangle 1">
            <a:extLst>
              <a:ext uri="{FF2B5EF4-FFF2-40B4-BE49-F238E27FC236}">
                <a16:creationId xmlns:a16="http://schemas.microsoft.com/office/drawing/2014/main" id="{7F1B6DE6-B477-5042-6534-341734C5C576}"/>
              </a:ext>
            </a:extLst>
          </p:cNvPr>
          <p:cNvSpPr>
            <a:spLocks noGrp="1" noChangeArrowheads="1"/>
          </p:cNvSpPr>
          <p:nvPr>
            <p:ph type="body" sz="quarter" idx="12"/>
          </p:nvPr>
        </p:nvSpPr>
        <p:spPr bwMode="auto">
          <a:xfrm>
            <a:off x="1005632" y="1234837"/>
            <a:ext cx="8140441"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Language:</a:t>
            </a:r>
            <a:r>
              <a:rPr kumimoji="0" lang="en-US" altLang="en-US" sz="1800" b="0" i="0" u="none" strike="noStrike" cap="none" normalizeH="0" baseline="0" dirty="0">
                <a:ln>
                  <a:noFill/>
                </a:ln>
                <a:solidFill>
                  <a:schemeClr val="tx1"/>
                </a:solidFill>
                <a:effectLst/>
                <a:latin typeface="Arial" panose="020B0604020202020204" pitchFamily="34" charset="0"/>
              </a:rPr>
              <a:t> Python 3</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IDE:</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Jupyter</a:t>
            </a:r>
            <a:r>
              <a:rPr kumimoji="0" lang="en-US" altLang="en-US" sz="1800" b="0" i="0" u="none" strike="noStrike" cap="none" normalizeH="0" baseline="0" dirty="0">
                <a:ln>
                  <a:noFill/>
                </a:ln>
                <a:solidFill>
                  <a:schemeClr val="tx1"/>
                </a:solidFill>
                <a:effectLst/>
                <a:latin typeface="Arial" panose="020B0604020202020204" pitchFamily="34" charset="0"/>
              </a:rPr>
              <a:t> Notebook (</a:t>
            </a:r>
            <a:r>
              <a:rPr kumimoji="0" lang="en-US" altLang="en-US" sz="1800" b="0" i="0" u="none" strike="noStrike" cap="none" normalizeH="0" baseline="0" dirty="0" err="1">
                <a:ln>
                  <a:noFill/>
                </a:ln>
                <a:solidFill>
                  <a:schemeClr val="tx1"/>
                </a:solidFill>
                <a:effectLst/>
                <a:latin typeface="Arial" panose="020B0604020202020204" pitchFamily="34" charset="0"/>
              </a:rPr>
              <a:t>VSCode</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Libraries:</a:t>
            </a:r>
            <a:r>
              <a:rPr kumimoji="0" lang="en-US" altLang="en-US" sz="1800" b="0" i="0" u="none" strike="noStrike" cap="none" normalizeH="0" baseline="0" dirty="0">
                <a:ln>
                  <a:noFill/>
                </a:ln>
                <a:solidFill>
                  <a:schemeClr val="tx1"/>
                </a:solidFill>
                <a:effectLst/>
                <a:latin typeface="Arial" panose="020B0604020202020204" pitchFamily="34" charset="0"/>
              </a:rPr>
              <a:t> pandas, </a:t>
            </a:r>
            <a:r>
              <a:rPr kumimoji="0" lang="en-US" altLang="en-US" sz="1800" b="0" i="0" u="none" strike="noStrike" cap="none" normalizeH="0" baseline="0" dirty="0" err="1">
                <a:ln>
                  <a:noFill/>
                </a:ln>
                <a:solidFill>
                  <a:schemeClr val="tx1"/>
                </a:solidFill>
                <a:effectLst/>
                <a:latin typeface="Arial" panose="020B0604020202020204" pitchFamily="34" charset="0"/>
              </a:rPr>
              <a:t>numpy</a:t>
            </a:r>
            <a:r>
              <a:rPr kumimoji="0" lang="en-US" altLang="en-US" sz="1800" b="0" i="0" u="none" strike="noStrike" cap="none" normalizeH="0" baseline="0" dirty="0">
                <a:ln>
                  <a:noFill/>
                </a:ln>
                <a:solidFill>
                  <a:schemeClr val="tx1"/>
                </a:solidFill>
                <a:effectLst/>
                <a:latin typeface="Arial" panose="020B0604020202020204" pitchFamily="34" charset="0"/>
              </a:rPr>
              <a:t>, matplotlib, seaborn, </a:t>
            </a:r>
            <a:r>
              <a:rPr kumimoji="0" lang="en-US" altLang="en-US" sz="1800" b="0" i="0" u="none" strike="noStrike" cap="none" normalizeH="0" baseline="0" dirty="0" err="1">
                <a:ln>
                  <a:noFill/>
                </a:ln>
                <a:solidFill>
                  <a:schemeClr val="tx1"/>
                </a:solidFill>
                <a:effectLst/>
                <a:latin typeface="Arial" panose="020B0604020202020204" pitchFamily="34" charset="0"/>
              </a:rPr>
              <a:t>scipy</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Data Cleaning &amp; Transformation:</a:t>
            </a:r>
            <a:r>
              <a:rPr kumimoji="0" lang="en-US" altLang="en-US" sz="1800" b="0" i="0" u="none" strike="noStrike" cap="none" normalizeH="0" baseline="0" dirty="0">
                <a:ln>
                  <a:noFill/>
                </a:ln>
                <a:solidFill>
                  <a:schemeClr val="tx1"/>
                </a:solidFill>
                <a:effectLst/>
                <a:latin typeface="Arial" panose="020B0604020202020204" pitchFamily="34" charset="0"/>
              </a:rPr>
              <a:t> pandas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Statistical Analysis:</a:t>
            </a:r>
            <a:r>
              <a:rPr kumimoji="0" lang="en-US" altLang="en-US" sz="1800" b="0" i="0" u="none" strike="noStrike" cap="none" normalizeH="0" baseline="0" dirty="0">
                <a:ln>
                  <a:noFill/>
                </a:ln>
                <a:solidFill>
                  <a:schemeClr val="tx1"/>
                </a:solidFill>
                <a:effectLst/>
                <a:latin typeface="Arial" panose="020B0604020202020204" pitchFamily="34" charset="0"/>
              </a:rPr>
              <a:t> IQR &amp; Z-score outlier detection (</a:t>
            </a:r>
            <a:r>
              <a:rPr kumimoji="0" lang="en-US" altLang="en-US" sz="1800" b="0" i="0" u="none" strike="noStrike" cap="none" normalizeH="0" baseline="0" dirty="0" err="1">
                <a:ln>
                  <a:noFill/>
                </a:ln>
                <a:solidFill>
                  <a:schemeClr val="tx1"/>
                </a:solidFill>
                <a:effectLst/>
                <a:latin typeface="Arial" panose="020B0604020202020204" pitchFamily="34" charset="0"/>
              </a:rPr>
              <a:t>scipy</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Visualization:</a:t>
            </a:r>
            <a:r>
              <a:rPr kumimoji="0" lang="en-US" altLang="en-US" sz="1800" b="0" i="0" u="none" strike="noStrike" cap="none" normalizeH="0" baseline="0" dirty="0">
                <a:ln>
                  <a:noFill/>
                </a:ln>
                <a:solidFill>
                  <a:schemeClr val="tx1"/>
                </a:solidFill>
                <a:effectLst/>
                <a:latin typeface="Arial" panose="020B0604020202020204" pitchFamily="34" charset="0"/>
              </a:rPr>
              <a:t> matplotlib, seaborn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Version Control:</a:t>
            </a:r>
            <a:r>
              <a:rPr kumimoji="0" lang="en-US" altLang="en-US" sz="1800" b="0" i="0" u="none" strike="noStrike" cap="none" normalizeH="0" baseline="0" dirty="0">
                <a:ln>
                  <a:noFill/>
                </a:ln>
                <a:solidFill>
                  <a:schemeClr val="tx1"/>
                </a:solidFill>
                <a:effectLst/>
                <a:latin typeface="Arial" panose="020B0604020202020204" pitchFamily="34" charset="0"/>
              </a:rPr>
              <a:t> Git &amp; GitHub</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Documentation &amp; Reporting:</a:t>
            </a:r>
            <a:r>
              <a:rPr kumimoji="0" lang="en-US" altLang="en-US" sz="1800" b="0" i="0" u="none" strike="noStrike" cap="none" normalizeH="0" baseline="0" dirty="0">
                <a:ln>
                  <a:noFill/>
                </a:ln>
                <a:solidFill>
                  <a:schemeClr val="tx1"/>
                </a:solidFill>
                <a:effectLst/>
                <a:latin typeface="Arial" panose="020B0604020202020204" pitchFamily="34" charset="0"/>
              </a:rPr>
              <a:t> Markdown, </a:t>
            </a:r>
            <a:r>
              <a:rPr kumimoji="0" lang="en-US" altLang="en-US" sz="1800" b="0" i="0" u="none" strike="noStrike" cap="none" normalizeH="0" baseline="0" dirty="0" err="1">
                <a:ln>
                  <a:noFill/>
                </a:ln>
                <a:solidFill>
                  <a:schemeClr val="tx1"/>
                </a:solidFill>
                <a:effectLst/>
                <a:latin typeface="Arial" panose="020B0604020202020204" pitchFamily="34" charset="0"/>
              </a:rPr>
              <a:t>ReportLab</a:t>
            </a:r>
            <a:r>
              <a:rPr lang="en-US" altLang="en-US" sz="1800" dirty="0">
                <a:solidFill>
                  <a:schemeClr val="tx1"/>
                </a:solidFill>
                <a:latin typeface="Arial" panose="020B0604020202020204" pitchFamily="34" charset="0"/>
              </a:rPr>
              <a:t>, ChatGPT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Presentation:</a:t>
            </a:r>
            <a:r>
              <a:rPr kumimoji="0" lang="en-US" altLang="en-US" sz="1800" b="0" i="0" u="none" strike="noStrike" cap="none" normalizeH="0" baseline="0" dirty="0">
                <a:ln>
                  <a:noFill/>
                </a:ln>
                <a:solidFill>
                  <a:schemeClr val="tx1"/>
                </a:solidFill>
                <a:effectLst/>
                <a:latin typeface="Arial" panose="020B0604020202020204" pitchFamily="34" charset="0"/>
              </a:rPr>
              <a:t> Microsoft PowerPoint</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RESULTS1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D991592A-DF57-AF42-603A-3C61853CE4E1}"/>
              </a:ext>
            </a:extLst>
          </p:cNvPr>
          <p:cNvPicPr>
            <a:picLocks noChangeAspect="1"/>
          </p:cNvPicPr>
          <p:nvPr/>
        </p:nvPicPr>
        <p:blipFill>
          <a:blip r:embed="rId3"/>
          <a:stretch>
            <a:fillRect/>
          </a:stretch>
        </p:blipFill>
        <p:spPr>
          <a:xfrm>
            <a:off x="675957" y="2187446"/>
            <a:ext cx="8580010" cy="3714750"/>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61F40-61F5-A9E4-2028-61D27EB38D0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90F1862-D4F3-D9EB-176E-2E2938531BAC}"/>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23A3B93-82D2-A57B-4898-3D9B0C72DC7D}"/>
              </a:ext>
            </a:extLst>
          </p:cNvPr>
          <p:cNvSpPr>
            <a:spLocks noGrp="1"/>
          </p:cNvSpPr>
          <p:nvPr>
            <p:ph type="title"/>
          </p:nvPr>
        </p:nvSpPr>
        <p:spPr>
          <a:xfrm>
            <a:off x="675957" y="370589"/>
            <a:ext cx="2981643" cy="830997"/>
          </a:xfrm>
        </p:spPr>
        <p:txBody>
          <a:bodyPr>
            <a:normAutofit/>
          </a:bodyPr>
          <a:lstStyle/>
          <a:p>
            <a:r>
              <a:rPr lang="en-GB" dirty="0"/>
              <a:t>RESULTS2</a:t>
            </a:r>
            <a:endParaRPr lang="en-IN" dirty="0"/>
          </a:p>
        </p:txBody>
      </p:sp>
      <p:sp>
        <p:nvSpPr>
          <p:cNvPr id="7" name="Text Placeholder 30">
            <a:extLst>
              <a:ext uri="{FF2B5EF4-FFF2-40B4-BE49-F238E27FC236}">
                <a16:creationId xmlns:a16="http://schemas.microsoft.com/office/drawing/2014/main" id="{F4C0E530-3AAB-E420-2061-2352FB4AEFB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3F5036B-907B-9AB7-BC47-C7C142E40FA7}"/>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2264E362-643F-2BD7-1096-791A1DBAF512}"/>
              </a:ext>
            </a:extLst>
          </p:cNvPr>
          <p:cNvPicPr>
            <a:picLocks noChangeAspect="1"/>
          </p:cNvPicPr>
          <p:nvPr/>
        </p:nvPicPr>
        <p:blipFill>
          <a:blip r:embed="rId3"/>
          <a:stretch>
            <a:fillRect/>
          </a:stretch>
        </p:blipFill>
        <p:spPr>
          <a:xfrm>
            <a:off x="675957" y="2094138"/>
            <a:ext cx="8598672" cy="3714750"/>
          </a:xfrm>
          <a:prstGeom prst="rect">
            <a:avLst/>
          </a:prstGeom>
        </p:spPr>
      </p:pic>
    </p:spTree>
    <p:extLst>
      <p:ext uri="{BB962C8B-B14F-4D97-AF65-F5344CB8AC3E}">
        <p14:creationId xmlns:p14="http://schemas.microsoft.com/office/powerpoint/2010/main" val="390853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024A6-C6F7-0E13-B5FE-E6A5870DA15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76194CC-45AC-6391-C127-232D7FE17E83}"/>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2560D1A-A584-25F8-1F57-468796F22888}"/>
              </a:ext>
            </a:extLst>
          </p:cNvPr>
          <p:cNvSpPr>
            <a:spLocks noGrp="1"/>
          </p:cNvSpPr>
          <p:nvPr>
            <p:ph type="title"/>
          </p:nvPr>
        </p:nvSpPr>
        <p:spPr>
          <a:xfrm>
            <a:off x="675957" y="370589"/>
            <a:ext cx="2981643" cy="830997"/>
          </a:xfrm>
        </p:spPr>
        <p:txBody>
          <a:bodyPr>
            <a:normAutofit/>
          </a:bodyPr>
          <a:lstStyle/>
          <a:p>
            <a:r>
              <a:rPr lang="en-GB" dirty="0"/>
              <a:t>RESULTS3 </a:t>
            </a:r>
            <a:endParaRPr lang="en-IN" dirty="0"/>
          </a:p>
        </p:txBody>
      </p:sp>
      <p:sp>
        <p:nvSpPr>
          <p:cNvPr id="7" name="Text Placeholder 30">
            <a:extLst>
              <a:ext uri="{FF2B5EF4-FFF2-40B4-BE49-F238E27FC236}">
                <a16:creationId xmlns:a16="http://schemas.microsoft.com/office/drawing/2014/main" id="{BBD379B3-43F5-BB42-D7EF-5C1FA28E50D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0D8247-EFB8-6C04-BBBF-310CEEF88E4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714F84E8-4A89-F240-D0AB-1A796532C48B}"/>
              </a:ext>
            </a:extLst>
          </p:cNvPr>
          <p:cNvPicPr>
            <a:picLocks noChangeAspect="1"/>
          </p:cNvPicPr>
          <p:nvPr/>
        </p:nvPicPr>
        <p:blipFill>
          <a:blip r:embed="rId3"/>
          <a:stretch>
            <a:fillRect/>
          </a:stretch>
        </p:blipFill>
        <p:spPr>
          <a:xfrm>
            <a:off x="675956" y="2206107"/>
            <a:ext cx="8552019" cy="3714750"/>
          </a:xfrm>
          <a:prstGeom prst="rect">
            <a:avLst/>
          </a:prstGeom>
        </p:spPr>
      </p:pic>
    </p:spTree>
    <p:extLst>
      <p:ext uri="{BB962C8B-B14F-4D97-AF65-F5344CB8AC3E}">
        <p14:creationId xmlns:p14="http://schemas.microsoft.com/office/powerpoint/2010/main" val="349846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302F3-5B15-F4B3-4FC0-05D49317B44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5314807-9A27-116F-CC98-E5EEF28F080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BA0845DA-C188-DB03-7162-C74DB64A3678}"/>
              </a:ext>
            </a:extLst>
          </p:cNvPr>
          <p:cNvSpPr>
            <a:spLocks noGrp="1"/>
          </p:cNvSpPr>
          <p:nvPr>
            <p:ph type="title"/>
          </p:nvPr>
        </p:nvSpPr>
        <p:spPr>
          <a:xfrm>
            <a:off x="675957" y="370589"/>
            <a:ext cx="6115368" cy="878622"/>
          </a:xfrm>
        </p:spPr>
        <p:txBody>
          <a:bodyPr>
            <a:normAutofit/>
          </a:bodyPr>
          <a:lstStyle/>
          <a:p>
            <a:r>
              <a:rPr lang="en-GB" dirty="0"/>
              <a:t>GitHub repository </a:t>
            </a:r>
          </a:p>
        </p:txBody>
      </p:sp>
      <p:sp>
        <p:nvSpPr>
          <p:cNvPr id="7" name="Text Placeholder 30">
            <a:extLst>
              <a:ext uri="{FF2B5EF4-FFF2-40B4-BE49-F238E27FC236}">
                <a16:creationId xmlns:a16="http://schemas.microsoft.com/office/drawing/2014/main" id="{9B11EDF8-3FD7-C9FE-2AA8-09208B3BEFC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8935B953-0B74-DF35-9464-45E8CB01D89D}"/>
              </a:ext>
            </a:extLst>
          </p:cNvPr>
          <p:cNvSpPr>
            <a:spLocks noGrp="1"/>
          </p:cNvSpPr>
          <p:nvPr>
            <p:ph type="body" sz="quarter" idx="12"/>
          </p:nvPr>
        </p:nvSpPr>
        <p:spPr>
          <a:xfrm>
            <a:off x="320982" y="2139221"/>
            <a:ext cx="11499914" cy="2579557"/>
          </a:xfrm>
        </p:spPr>
        <p:txBody>
          <a:bodyPr vert="horz" lIns="91440" tIns="45720" rIns="91440" bIns="45720" rtlCol="0" anchor="t">
            <a:normAutofit/>
          </a:bodyPr>
          <a:lstStyle/>
          <a:p>
            <a:pPr marL="0" indent="0">
              <a:buNone/>
            </a:pPr>
            <a:r>
              <a:rPr lang="en-US" dirty="0">
                <a:hlinkClick r:id="rId3"/>
              </a:rPr>
              <a:t>https://github.com/DesmondKarakara/VOIS_AICTE_Oct2025_DevdiproBhaduri_MajorProject</a:t>
            </a:r>
            <a:endParaRPr lang="en-US" dirty="0"/>
          </a:p>
          <a:p>
            <a:pPr marL="0" indent="0">
              <a:buNone/>
            </a:pPr>
            <a:endParaRPr lang="en-US" dirty="0"/>
          </a:p>
        </p:txBody>
      </p:sp>
    </p:spTree>
    <p:extLst>
      <p:ext uri="{BB962C8B-B14F-4D97-AF65-F5344CB8AC3E}">
        <p14:creationId xmlns:p14="http://schemas.microsoft.com/office/powerpoint/2010/main" val="1596923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xEl>
                                              <p:pRg st="0" end="0"/>
                                            </p:txEl>
                                          </p:spTgt>
                                        </p:tgtEl>
                                        <p:attrNameLst>
                                          <p:attrName>style.visibility</p:attrName>
                                        </p:attrNameLst>
                                      </p:cBhvr>
                                      <p:to>
                                        <p:strVal val="visible"/>
                                      </p:to>
                                    </p:set>
                                    <p:animEffect transition="in" filter="fade">
                                      <p:cBhvr>
                                        <p:cTn id="21" dur="1000"/>
                                        <p:tgtEl>
                                          <p:spTgt spid="10">
                                            <p:txEl>
                                              <p:pRg st="0" end="0"/>
                                            </p:txEl>
                                          </p:spTgt>
                                        </p:tgtEl>
                                      </p:cBhvr>
                                    </p:animEffect>
                                    <p:anim calcmode="lin" valueType="num">
                                      <p:cBhvr>
                                        <p:cTn id="22"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3FACE-D55E-9B4A-7A75-15654F5D4FD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761536A-9E87-8208-553B-AFA23F55C6EA}"/>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C5390BF9-A1B3-D0A5-6FE6-4C64A8B75AA9}"/>
              </a:ext>
            </a:extLst>
          </p:cNvPr>
          <p:cNvSpPr>
            <a:spLocks noGrp="1"/>
          </p:cNvSpPr>
          <p:nvPr>
            <p:ph type="title"/>
          </p:nvPr>
        </p:nvSpPr>
        <p:spPr>
          <a:xfrm>
            <a:off x="675957" y="370589"/>
            <a:ext cx="10892066" cy="904781"/>
          </a:xfrm>
        </p:spPr>
        <p:txBody>
          <a:bodyPr>
            <a:noAutofit/>
          </a:bodyPr>
          <a:lstStyle/>
          <a:p>
            <a:r>
              <a:rPr lang="en-IN" sz="3600" dirty="0"/>
              <a:t>Getting started with Basics of Python </a:t>
            </a:r>
            <a:r>
              <a:rPr lang="en-GB" sz="3600" dirty="0"/>
              <a:t>Certificate  </a:t>
            </a:r>
            <a:endParaRPr lang="en-IN" sz="3600" dirty="0"/>
          </a:p>
        </p:txBody>
      </p:sp>
      <p:sp>
        <p:nvSpPr>
          <p:cNvPr id="7" name="Text Placeholder 30">
            <a:extLst>
              <a:ext uri="{FF2B5EF4-FFF2-40B4-BE49-F238E27FC236}">
                <a16:creationId xmlns:a16="http://schemas.microsoft.com/office/drawing/2014/main" id="{C0B10ED4-748B-FD2D-3185-4AB559AC71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1BF57D1-2242-C3F4-D177-EE064D5454A4}"/>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8878A39B-687B-4098-39F4-138B1997D250}"/>
              </a:ext>
            </a:extLst>
          </p:cNvPr>
          <p:cNvPicPr>
            <a:picLocks noChangeAspect="1"/>
          </p:cNvPicPr>
          <p:nvPr/>
        </p:nvPicPr>
        <p:blipFill>
          <a:blip r:embed="rId3"/>
          <a:stretch>
            <a:fillRect/>
          </a:stretch>
        </p:blipFill>
        <p:spPr>
          <a:xfrm>
            <a:off x="2064368" y="1191394"/>
            <a:ext cx="6991811" cy="4963224"/>
          </a:xfrm>
          <a:prstGeom prst="rect">
            <a:avLst/>
          </a:prstGeom>
        </p:spPr>
      </p:pic>
    </p:spTree>
    <p:extLst>
      <p:ext uri="{BB962C8B-B14F-4D97-AF65-F5344CB8AC3E}">
        <p14:creationId xmlns:p14="http://schemas.microsoft.com/office/powerpoint/2010/main" val="2710602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CD52E-39EF-82B8-E116-6B0D9B50E1D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0214EFD-3FAC-BE9B-CFBB-2D1FCCED012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5359B88B-4EF4-AA7A-A15C-4B2147671C19}"/>
              </a:ext>
            </a:extLst>
          </p:cNvPr>
          <p:cNvSpPr>
            <a:spLocks noGrp="1"/>
          </p:cNvSpPr>
          <p:nvPr>
            <p:ph type="title"/>
          </p:nvPr>
        </p:nvSpPr>
        <p:spPr>
          <a:xfrm>
            <a:off x="675957" y="370589"/>
            <a:ext cx="10892066" cy="904781"/>
          </a:xfrm>
        </p:spPr>
        <p:txBody>
          <a:bodyPr>
            <a:noAutofit/>
          </a:bodyPr>
          <a:lstStyle/>
          <a:p>
            <a:r>
              <a:rPr lang="en-IN" sz="3600" dirty="0"/>
              <a:t>Data Visualization </a:t>
            </a:r>
            <a:r>
              <a:rPr lang="en-GB" sz="3600" dirty="0"/>
              <a:t>Certificate  </a:t>
            </a:r>
            <a:endParaRPr lang="en-IN" sz="3600" dirty="0"/>
          </a:p>
        </p:txBody>
      </p:sp>
      <p:sp>
        <p:nvSpPr>
          <p:cNvPr id="7" name="Text Placeholder 30">
            <a:extLst>
              <a:ext uri="{FF2B5EF4-FFF2-40B4-BE49-F238E27FC236}">
                <a16:creationId xmlns:a16="http://schemas.microsoft.com/office/drawing/2014/main" id="{C23E8C61-31F1-4380-CEFB-D75448F856D7}"/>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F0577D1-D5B1-726B-4FAB-B353BDE31B12}"/>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52C9A3D0-537E-228E-D5EC-F2D27C3806C9}"/>
              </a:ext>
            </a:extLst>
          </p:cNvPr>
          <p:cNvPicPr>
            <a:picLocks noChangeAspect="1"/>
          </p:cNvPicPr>
          <p:nvPr/>
        </p:nvPicPr>
        <p:blipFill>
          <a:blip r:embed="rId3"/>
          <a:stretch>
            <a:fillRect/>
          </a:stretch>
        </p:blipFill>
        <p:spPr>
          <a:xfrm>
            <a:off x="1747519" y="1275370"/>
            <a:ext cx="7136848" cy="5072603"/>
          </a:xfrm>
          <a:prstGeom prst="rect">
            <a:avLst/>
          </a:prstGeom>
        </p:spPr>
      </p:pic>
    </p:spTree>
    <p:extLst>
      <p:ext uri="{BB962C8B-B14F-4D97-AF65-F5344CB8AC3E}">
        <p14:creationId xmlns:p14="http://schemas.microsoft.com/office/powerpoint/2010/main" val="566684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197560" y="545064"/>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692</TotalTime>
  <Words>753</Words>
  <Application>Microsoft Office PowerPoint</Application>
  <PresentationFormat>Widescreen</PresentationFormat>
  <Paragraphs>55</Paragraphs>
  <Slides>12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Calibri</vt:lpstr>
      <vt:lpstr>Times New Roman</vt:lpstr>
      <vt:lpstr>Trebuchet MS</vt:lpstr>
      <vt:lpstr>Wingdings</vt:lpstr>
      <vt:lpstr>Wingdings 3</vt:lpstr>
      <vt:lpstr>Facet</vt:lpstr>
      <vt:lpstr>Netflix Data Analysis</vt:lpstr>
      <vt:lpstr>PROBLEM  STATEMENT</vt:lpstr>
      <vt:lpstr>Project Description  </vt:lpstr>
      <vt:lpstr>WHO ARE THE END USERS?</vt:lpstr>
      <vt:lpstr>Technology Used</vt:lpstr>
      <vt:lpstr>RESULTS1 </vt:lpstr>
      <vt:lpstr>RESULTS2</vt:lpstr>
      <vt:lpstr>RESULTS3 </vt:lpstr>
      <vt:lpstr>GitHub repository </vt:lpstr>
      <vt:lpstr>Getting started with Basics of Python Certificate  </vt:lpstr>
      <vt:lpstr>Data Visualization Certificate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Devdipro Bhaduri</cp:lastModifiedBy>
  <cp:revision>107</cp:revision>
  <dcterms:created xsi:type="dcterms:W3CDTF">2021-07-11T13:13:15Z</dcterms:created>
  <dcterms:modified xsi:type="dcterms:W3CDTF">2025-10-08T15:56:15Z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